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Montserrat"/>
      <p:bold r:id="rId20"/>
      <p:boldItalic r:id="rId21"/>
    </p:embeddedFont>
    <p:embeddedFont>
      <p:font typeface="Oswald"/>
      <p:bold r:id="rId22"/>
    </p:embeddedFont>
    <p:embeddedFont>
      <p:font typeface="Sansita"/>
      <p:regular r:id="rId23"/>
      <p:bold r:id="rId24"/>
      <p:italic r:id="rId25"/>
      <p:boldItalic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j74EsMTVKy8riMMGYFffBP4pAk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Oswald-bold.fntdata"/><Relationship Id="rId21" Type="http://schemas.openxmlformats.org/officeDocument/2006/relationships/font" Target="fonts/Montserrat-boldItalic.fntdata"/><Relationship Id="rId24" Type="http://schemas.openxmlformats.org/officeDocument/2006/relationships/font" Target="fonts/Sansita-bold.fntdata"/><Relationship Id="rId23" Type="http://schemas.openxmlformats.org/officeDocument/2006/relationships/font" Target="fonts/Sansit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ansita-boldItalic.fntdata"/><Relationship Id="rId25" Type="http://schemas.openxmlformats.org/officeDocument/2006/relationships/font" Target="fonts/Sansita-italic.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DM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1.png"/><Relationship Id="rId5" Type="http://schemas.openxmlformats.org/officeDocument/2006/relationships/hyperlink" Target="https://www.significados.com/eficiencia/" TargetMode="External"/><Relationship Id="rId6" Type="http://schemas.openxmlformats.org/officeDocument/2006/relationships/hyperlink" Target="https://www.significados.com/eficiencia/" TargetMode="External"/><Relationship Id="rId7" Type="http://schemas.openxmlformats.org/officeDocument/2006/relationships/hyperlink" Target="https://www.significados.com/eficienci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0.png"/><Relationship Id="rId11" Type="http://schemas.openxmlformats.org/officeDocument/2006/relationships/hyperlink" Target="https://www.wanywhere.com/es/blogs/productividad-vs-eficiencia-como-diferenciar-y-equilibrar-cada-uno-para-sus-equipos/" TargetMode="External"/><Relationship Id="rId10" Type="http://schemas.openxmlformats.org/officeDocument/2006/relationships/hyperlink" Target="https://www.wanywhere.com/es/blogs/productividad-vs-eficiencia-como-diferenciar-y-equilibrar-cada-uno-para-sus-equipos/" TargetMode="External"/><Relationship Id="rId9" Type="http://schemas.openxmlformats.org/officeDocument/2006/relationships/hyperlink" Target="https://www.wanywhere.com/es/blogs/productividad-vs-eficiencia-como-diferenciar-y-equilibrar-cada-uno-para-sus-equipos/" TargetMode="External"/><Relationship Id="rId5" Type="http://schemas.openxmlformats.org/officeDocument/2006/relationships/image" Target="../media/image11.png"/><Relationship Id="rId6" Type="http://schemas.openxmlformats.org/officeDocument/2006/relationships/hyperlink" Target="https://es.vecteezy.com/arte-vectorial/27831368-concepto-de-eficacia-eficiencia-o-productividad-para-mejor-resultados-mejorar-actuacion-o-proceso-negocio-desarrollo-o-gestion-negocio-empresario-con-engranajes-con-eficaz-elementos" TargetMode="External"/><Relationship Id="rId7" Type="http://schemas.openxmlformats.org/officeDocument/2006/relationships/hyperlink" Target="https://es.vecteezy.com/arte-vectorial/27831368-concepto-de-eficacia-eficiencia-o-productividad-para-mejor-resultados-mejorar-actuacion-o-proceso-negocio-desarrollo-o-gestion-negocio-empresario-con-engranajes-con-eficaz-elementos" TargetMode="External"/><Relationship Id="rId8" Type="http://schemas.openxmlformats.org/officeDocument/2006/relationships/hyperlink" Target="https://es.vecteezy.com/arte-vectorial/27831368-concepto-de-eficacia-eficiencia-o-productividad-para-mejor-resultados-mejorar-actuacion-o-proceso-negocio-desarrollo-o-gestion-negocio-empresario-con-engranajes-con-eficaz-elemento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https://es.vecteezy.com/arte-vectorial/27831368-concepto-de-eficacia-eficiencia-o-productividad-para-mejor-resultados-mejorar-actuacion-o-proceso-negocio-desarrollo-o-gestion-negocio-empresario-con-engranajes-con-eficaz-elementos" TargetMode="External"/><Relationship Id="rId6" Type="http://schemas.openxmlformats.org/officeDocument/2006/relationships/hyperlink" Target="https://es.vecteezy.com/arte-vectorial/27831368-concepto-de-eficacia-eficiencia-o-productividad-para-mejor-resultados-mejorar-actuacion-o-proceso-negocio-desarrollo-o-gestion-negocio-empresario-con-engranajes-con-eficaz-elementos" TargetMode="External"/><Relationship Id="rId7" Type="http://schemas.openxmlformats.org/officeDocument/2006/relationships/hyperlink" Target="https://www.mrpeasy.com/blog/es/eficiencia-productiv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 Id="rId9" Type="http://schemas.openxmlformats.org/officeDocument/2006/relationships/hyperlink" Target="https://ipsnoticias.net/2019/12/nace-iniciativa-mejorar-salud-mental-trabajadores-textiles-bangladesh/" TargetMode="External"/><Relationship Id="rId5" Type="http://schemas.openxmlformats.org/officeDocument/2006/relationships/image" Target="../media/image13.png"/><Relationship Id="rId6" Type="http://schemas.openxmlformats.org/officeDocument/2006/relationships/hyperlink" Target="https://es.vecteezy.com/arte-vectorial/27831368-concepto-de-eficacia-eficiencia-o-productividad-para-mejor-resultados-mejorar-actuacion-o-proceso-negocio-desarrollo-o-gestion-negocio-empresario-con-engranajes-con-eficaz-elementos" TargetMode="External"/><Relationship Id="rId7" Type="http://schemas.openxmlformats.org/officeDocument/2006/relationships/hyperlink" Target="https://es.vecteezy.com/arte-vectorial/39037952-proyecto-gestion-planificacion-para-software-desarrollo-recursos-y-presupuesto-planificacion-proyecto-calendario-diagrama-gantt-grafico-para-trabajo-fecha-limite-concepto-computadora-ordenador-portatil-con-proyecto-administracion-software" TargetMode="External"/><Relationship Id="rId8" Type="http://schemas.openxmlformats.org/officeDocument/2006/relationships/hyperlink" Target="https://ipsnoticias.net/2019/12/nace-iniciativa-mejorar-salud-mental-trabajadores-textiles-bangladesh/"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https://www.revistamoi.com/bienestar/como-alcanzar-tus-metas/" TargetMode="External"/><Relationship Id="rId6" Type="http://schemas.openxmlformats.org/officeDocument/2006/relationships/hyperlink" Target="https://www.revistamoi.com/bienestar/como-alcanzar-tus-metas/" TargetMode="External"/><Relationship Id="rId7" Type="http://schemas.openxmlformats.org/officeDocument/2006/relationships/hyperlink" Target="https://www.revistamoi.com/bienestar/como-alcanzar-tus-meta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hyperlink" Target="https://docs.google.com/spreadsheets/d/1LIty747Sw_j1mPbg36vWx645r5J9qIhLVD1emJjvPi0/edit?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hyperlink" Target="https://docs.google.com/document/d/11NJUUIoAARii-NG9RYCJMaiDCpItWZmuYCqGMtUYhi0/edit?usp=drive_link" TargetMode="External"/><Relationship Id="rId5" Type="http://schemas.openxmlformats.org/officeDocument/2006/relationships/hyperlink" Target="https://docs.google.com/document/d/11NJUUIoAARii-NG9RYCJMaiDCpItWZmuYCqGMtUYhi0/edit?usp=drive_link"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hyperlink" Target="https://docs.google.com/document/d/11NJUUIoAARii-NG9RYCJMaiDCpItWZmuYCqGMtUYhi0/edit?usp=drive_link"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83" name="Shape 83"/>
        <p:cNvGrpSpPr/>
        <p:nvPr/>
      </p:nvGrpSpPr>
      <p:grpSpPr>
        <a:xfrm>
          <a:off x="0" y="0"/>
          <a:ext cx="0" cy="0"/>
          <a:chOff x="0" y="0"/>
          <a:chExt cx="0" cy="0"/>
        </a:xfrm>
      </p:grpSpPr>
      <p:sp>
        <p:nvSpPr>
          <p:cNvPr id="84" name="Google Shape;84;p1"/>
          <p:cNvSpPr/>
          <p:nvPr/>
        </p:nvSpPr>
        <p:spPr>
          <a:xfrm rot="7659121">
            <a:off x="10659648" y="2831894"/>
            <a:ext cx="12525650" cy="12852812"/>
          </a:xfrm>
          <a:custGeom>
            <a:rect b="b" l="l" r="r" t="t"/>
            <a:pathLst>
              <a:path extrusionOk="0" h="12852812" w="12525650">
                <a:moveTo>
                  <a:pt x="0" y="0"/>
                </a:moveTo>
                <a:lnTo>
                  <a:pt x="12525649" y="0"/>
                </a:lnTo>
                <a:lnTo>
                  <a:pt x="12525649" y="12852812"/>
                </a:lnTo>
                <a:lnTo>
                  <a:pt x="0" y="12852812"/>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3805786" y="-7392626"/>
            <a:ext cx="13641413" cy="13997719"/>
          </a:xfrm>
          <a:custGeom>
            <a:rect b="b" l="l" r="r" t="t"/>
            <a:pathLst>
              <a:path extrusionOk="0" h="13997719" w="13641413">
                <a:moveTo>
                  <a:pt x="0" y="0"/>
                </a:moveTo>
                <a:lnTo>
                  <a:pt x="13641413" y="0"/>
                </a:lnTo>
                <a:lnTo>
                  <a:pt x="13641413" y="13997719"/>
                </a:lnTo>
                <a:lnTo>
                  <a:pt x="0" y="13997719"/>
                </a:lnTo>
                <a:lnTo>
                  <a:pt x="0" y="0"/>
                </a:lnTo>
                <a:close/>
              </a:path>
            </a:pathLst>
          </a:custGeom>
          <a:blipFill rotWithShape="1">
            <a:blip r:embed="rId3">
              <a:alphaModFix/>
            </a:blip>
            <a:stretch>
              <a:fillRect b="0" l="0" r="0" t="0"/>
            </a:stretch>
          </a:blipFill>
          <a:ln>
            <a:noFill/>
          </a:ln>
        </p:spPr>
      </p:sp>
      <p:grpSp>
        <p:nvGrpSpPr>
          <p:cNvPr id="86" name="Google Shape;86;p1"/>
          <p:cNvGrpSpPr/>
          <p:nvPr/>
        </p:nvGrpSpPr>
        <p:grpSpPr>
          <a:xfrm>
            <a:off x="4236347" y="3103606"/>
            <a:ext cx="9815307" cy="4307509"/>
            <a:chOff x="0" y="-19050"/>
            <a:chExt cx="1895495" cy="831850"/>
          </a:xfrm>
        </p:grpSpPr>
        <p:sp>
          <p:nvSpPr>
            <p:cNvPr id="87" name="Google Shape;87;p1"/>
            <p:cNvSpPr/>
            <p:nvPr/>
          </p:nvSpPr>
          <p:spPr>
            <a:xfrm>
              <a:off x="0" y="0"/>
              <a:ext cx="1895495" cy="812800"/>
            </a:xfrm>
            <a:custGeom>
              <a:rect b="b" l="l" r="r" t="t"/>
              <a:pathLst>
                <a:path extrusionOk="0" h="812800" w="1895495">
                  <a:moveTo>
                    <a:pt x="0" y="0"/>
                  </a:moveTo>
                  <a:lnTo>
                    <a:pt x="1895495" y="0"/>
                  </a:lnTo>
                  <a:lnTo>
                    <a:pt x="1895495" y="812800"/>
                  </a:lnTo>
                  <a:lnTo>
                    <a:pt x="0" y="812800"/>
                  </a:lnTo>
                  <a:close/>
                </a:path>
              </a:pathLst>
            </a:custGeom>
            <a:solidFill>
              <a:srgbClr val="1A1A1A"/>
            </a:solidFill>
            <a:ln cap="sq" cmpd="sng" w="38100">
              <a:solidFill>
                <a:srgbClr val="FDFBFB"/>
              </a:solidFill>
              <a:prstDash val="solid"/>
              <a:miter lim="8000"/>
              <a:headEnd len="sm" w="sm" type="none"/>
              <a:tailEnd len="sm" w="sm" type="none"/>
            </a:ln>
          </p:spPr>
        </p:sp>
        <p:sp>
          <p:nvSpPr>
            <p:cNvPr id="88" name="Google Shape;88;p1"/>
            <p:cNvSpPr txBox="1"/>
            <p:nvPr/>
          </p:nvSpPr>
          <p:spPr>
            <a:xfrm>
              <a:off x="0" y="-19050"/>
              <a:ext cx="1895495" cy="83185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9" name="Google Shape;89;p1"/>
          <p:cNvSpPr txBox="1"/>
          <p:nvPr/>
        </p:nvSpPr>
        <p:spPr>
          <a:xfrm>
            <a:off x="4236347" y="3874901"/>
            <a:ext cx="9815307" cy="1991356"/>
          </a:xfrm>
          <a:prstGeom prst="rect">
            <a:avLst/>
          </a:prstGeom>
          <a:noFill/>
          <a:ln>
            <a:noFill/>
          </a:ln>
        </p:spPr>
        <p:txBody>
          <a:bodyPr anchorCtr="0" anchor="t" bIns="0" lIns="0" spcFirstLastPara="1" rIns="0" wrap="square" tIns="0">
            <a:spAutoFit/>
          </a:bodyPr>
          <a:lstStyle/>
          <a:p>
            <a:pPr indent="0" lvl="0" marL="0" marR="0" rtl="0" algn="ctr">
              <a:lnSpc>
                <a:spcPct val="137999"/>
              </a:lnSpc>
              <a:spcBef>
                <a:spcPts val="0"/>
              </a:spcBef>
              <a:spcAft>
                <a:spcPts val="0"/>
              </a:spcAft>
              <a:buNone/>
            </a:pPr>
            <a:r>
              <a:rPr b="1" i="0" lang="en-US" sz="11774" u="none" cap="none" strike="noStrike">
                <a:solidFill>
                  <a:srgbClr val="F2F4F5"/>
                </a:solidFill>
                <a:latin typeface="Oswald"/>
                <a:ea typeface="Oswald"/>
                <a:cs typeface="Oswald"/>
                <a:sym typeface="Oswald"/>
              </a:rPr>
              <a:t>ControlatE</a:t>
            </a:r>
            <a:endParaRPr/>
          </a:p>
        </p:txBody>
      </p:sp>
      <p:sp>
        <p:nvSpPr>
          <p:cNvPr id="90" name="Google Shape;90;p1"/>
          <p:cNvSpPr txBox="1"/>
          <p:nvPr/>
        </p:nvSpPr>
        <p:spPr>
          <a:xfrm>
            <a:off x="2719596" y="7482578"/>
            <a:ext cx="12848809" cy="444176"/>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None/>
            </a:pPr>
            <a:r>
              <a:rPr b="1" i="0" lang="en-US" sz="2653" u="none" cap="none" strike="noStrike">
                <a:solidFill>
                  <a:srgbClr val="F2F4F5"/>
                </a:solidFill>
                <a:latin typeface="Montserrat"/>
                <a:ea typeface="Montserrat"/>
                <a:cs typeface="Montserrat"/>
                <a:sym typeface="Montserrat"/>
              </a:rPr>
              <a:t>ADSO - 3406012</a:t>
            </a:r>
            <a:endParaRPr/>
          </a:p>
        </p:txBody>
      </p:sp>
      <p:sp>
        <p:nvSpPr>
          <p:cNvPr id="91" name="Google Shape;91;p1"/>
          <p:cNvSpPr txBox="1"/>
          <p:nvPr/>
        </p:nvSpPr>
        <p:spPr>
          <a:xfrm>
            <a:off x="2719596" y="7879129"/>
            <a:ext cx="12848809" cy="444176"/>
          </a:xfrm>
          <a:prstGeom prst="rect">
            <a:avLst/>
          </a:prstGeom>
          <a:noFill/>
          <a:ln>
            <a:noFill/>
          </a:ln>
        </p:spPr>
        <p:txBody>
          <a:bodyPr anchorCtr="0" anchor="t" bIns="0" lIns="0" spcFirstLastPara="1" rIns="0" wrap="square" tIns="0">
            <a:spAutoFit/>
          </a:bodyPr>
          <a:lstStyle/>
          <a:p>
            <a:pPr indent="0" lvl="0" marL="0" marR="0" rtl="0" algn="ctr">
              <a:lnSpc>
                <a:spcPct val="137994"/>
              </a:lnSpc>
              <a:spcBef>
                <a:spcPts val="0"/>
              </a:spcBef>
              <a:spcAft>
                <a:spcPts val="0"/>
              </a:spcAft>
              <a:buNone/>
            </a:pPr>
            <a:r>
              <a:rPr b="1" i="0" lang="en-US" sz="2653" u="none" cap="none" strike="noStrike">
                <a:solidFill>
                  <a:srgbClr val="F2F4F5"/>
                </a:solidFill>
                <a:latin typeface="Montserrat"/>
                <a:ea typeface="Montserrat"/>
                <a:cs typeface="Montserrat"/>
                <a:sym typeface="Montserrat"/>
              </a:rPr>
              <a:t>Carol Torres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95" name="Shape 95"/>
        <p:cNvGrpSpPr/>
        <p:nvPr/>
      </p:nvGrpSpPr>
      <p:grpSpPr>
        <a:xfrm>
          <a:off x="0" y="0"/>
          <a:ext cx="0" cy="0"/>
          <a:chOff x="0" y="0"/>
          <a:chExt cx="0" cy="0"/>
        </a:xfrm>
      </p:grpSpPr>
      <p:sp>
        <p:nvSpPr>
          <p:cNvPr id="96" name="Google Shape;96;p2"/>
          <p:cNvSpPr/>
          <p:nvPr/>
        </p:nvSpPr>
        <p:spPr>
          <a:xfrm>
            <a:off x="9109689" y="-5566217"/>
            <a:ext cx="11461151" cy="11760509"/>
          </a:xfrm>
          <a:custGeom>
            <a:rect b="b" l="l" r="r" t="t"/>
            <a:pathLst>
              <a:path extrusionOk="0" h="11760509" w="11461151">
                <a:moveTo>
                  <a:pt x="0" y="0"/>
                </a:moveTo>
                <a:lnTo>
                  <a:pt x="11461151" y="0"/>
                </a:lnTo>
                <a:lnTo>
                  <a:pt x="11461151" y="11760509"/>
                </a:lnTo>
                <a:lnTo>
                  <a:pt x="0" y="11760509"/>
                </a:lnTo>
                <a:lnTo>
                  <a:pt x="0" y="0"/>
                </a:lnTo>
                <a:close/>
              </a:path>
            </a:pathLst>
          </a:custGeom>
          <a:blipFill rotWithShape="1">
            <a:blip r:embed="rId3">
              <a:alphaModFix/>
            </a:blip>
            <a:stretch>
              <a:fillRect b="0" l="0" r="0" t="0"/>
            </a:stretch>
          </a:blipFill>
          <a:ln>
            <a:noFill/>
          </a:ln>
        </p:spPr>
      </p:sp>
      <p:sp>
        <p:nvSpPr>
          <p:cNvPr id="97" name="Google Shape;97;p2"/>
          <p:cNvSpPr/>
          <p:nvPr/>
        </p:nvSpPr>
        <p:spPr>
          <a:xfrm>
            <a:off x="11895156" y="1028700"/>
            <a:ext cx="5274924" cy="8209099"/>
          </a:xfrm>
          <a:custGeom>
            <a:rect b="b" l="l" r="r" t="t"/>
            <a:pathLst>
              <a:path extrusionOk="0" h="8209099" w="5274924">
                <a:moveTo>
                  <a:pt x="0" y="0"/>
                </a:moveTo>
                <a:lnTo>
                  <a:pt x="5274925" y="0"/>
                </a:lnTo>
                <a:lnTo>
                  <a:pt x="5274925" y="8209099"/>
                </a:lnTo>
                <a:lnTo>
                  <a:pt x="0" y="8209099"/>
                </a:lnTo>
                <a:lnTo>
                  <a:pt x="0" y="0"/>
                </a:lnTo>
                <a:close/>
              </a:path>
            </a:pathLst>
          </a:custGeom>
          <a:blipFill rotWithShape="1">
            <a:blip r:embed="rId4">
              <a:alphaModFix/>
            </a:blip>
            <a:stretch>
              <a:fillRect b="0" l="-66790" r="-66790" t="0"/>
            </a:stretch>
          </a:blipFill>
          <a:ln>
            <a:noFill/>
          </a:ln>
        </p:spPr>
      </p:sp>
      <p:grpSp>
        <p:nvGrpSpPr>
          <p:cNvPr id="98" name="Google Shape;98;p2"/>
          <p:cNvGrpSpPr/>
          <p:nvPr/>
        </p:nvGrpSpPr>
        <p:grpSpPr>
          <a:xfrm>
            <a:off x="2142191" y="3346585"/>
            <a:ext cx="9051292" cy="5540725"/>
            <a:chOff x="0" y="-19050"/>
            <a:chExt cx="3467942" cy="2122891"/>
          </a:xfrm>
        </p:grpSpPr>
        <p:sp>
          <p:nvSpPr>
            <p:cNvPr id="99" name="Google Shape;99;p2"/>
            <p:cNvSpPr/>
            <p:nvPr/>
          </p:nvSpPr>
          <p:spPr>
            <a:xfrm>
              <a:off x="0" y="0"/>
              <a:ext cx="3467941" cy="2103841"/>
            </a:xfrm>
            <a:custGeom>
              <a:rect b="b" l="l" r="r" t="t"/>
              <a:pathLst>
                <a:path extrusionOk="0" h="2103841" w="3467941">
                  <a:moveTo>
                    <a:pt x="10264" y="0"/>
                  </a:moveTo>
                  <a:lnTo>
                    <a:pt x="3457677" y="0"/>
                  </a:lnTo>
                  <a:cubicBezTo>
                    <a:pt x="3463346" y="0"/>
                    <a:pt x="3467941" y="4595"/>
                    <a:pt x="3467941" y="10264"/>
                  </a:cubicBezTo>
                  <a:lnTo>
                    <a:pt x="3467941" y="2093576"/>
                  </a:lnTo>
                  <a:cubicBezTo>
                    <a:pt x="3467941" y="2099245"/>
                    <a:pt x="3463346" y="2103841"/>
                    <a:pt x="3457677" y="2103841"/>
                  </a:cubicBezTo>
                  <a:lnTo>
                    <a:pt x="10264" y="2103841"/>
                  </a:lnTo>
                  <a:cubicBezTo>
                    <a:pt x="4595" y="2103841"/>
                    <a:pt x="0" y="2099245"/>
                    <a:pt x="0" y="2093576"/>
                  </a:cubicBezTo>
                  <a:lnTo>
                    <a:pt x="0" y="10264"/>
                  </a:lnTo>
                  <a:cubicBezTo>
                    <a:pt x="0" y="4595"/>
                    <a:pt x="4595" y="0"/>
                    <a:pt x="10264"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txBox="1"/>
            <p:nvPr/>
          </p:nvSpPr>
          <p:spPr>
            <a:xfrm>
              <a:off x="0" y="-19050"/>
              <a:ext cx="3467942" cy="212289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2"/>
          <p:cNvSpPr txBox="1"/>
          <p:nvPr/>
        </p:nvSpPr>
        <p:spPr>
          <a:xfrm>
            <a:off x="2142191" y="1798959"/>
            <a:ext cx="8323558" cy="1168721"/>
          </a:xfrm>
          <a:prstGeom prst="rect">
            <a:avLst/>
          </a:prstGeom>
          <a:noFill/>
          <a:ln>
            <a:noFill/>
          </a:ln>
        </p:spPr>
        <p:txBody>
          <a:bodyPr anchorCtr="0" anchor="t" bIns="0" lIns="0" spcFirstLastPara="1" rIns="0" wrap="square" tIns="0">
            <a:spAutoFit/>
          </a:bodyPr>
          <a:lstStyle/>
          <a:p>
            <a:pPr indent="0" lvl="0" marL="0" marR="0" rtl="0" algn="l">
              <a:lnSpc>
                <a:spcPct val="138002"/>
              </a:lnSpc>
              <a:spcBef>
                <a:spcPts val="0"/>
              </a:spcBef>
              <a:spcAft>
                <a:spcPts val="0"/>
              </a:spcAft>
              <a:buNone/>
            </a:pPr>
            <a:r>
              <a:rPr b="1" i="0" lang="en-US" sz="6947" u="none" cap="none" strike="noStrike">
                <a:solidFill>
                  <a:srgbClr val="F2F4F5"/>
                </a:solidFill>
                <a:latin typeface="Oswald"/>
                <a:ea typeface="Oswald"/>
                <a:cs typeface="Oswald"/>
                <a:sym typeface="Oswald"/>
              </a:rPr>
              <a:t>NOVARO'S </a:t>
            </a:r>
            <a:endParaRPr/>
          </a:p>
        </p:txBody>
      </p:sp>
      <p:sp>
        <p:nvSpPr>
          <p:cNvPr id="102" name="Google Shape;102;p2"/>
          <p:cNvSpPr txBox="1"/>
          <p:nvPr/>
        </p:nvSpPr>
        <p:spPr>
          <a:xfrm>
            <a:off x="2485927" y="3637754"/>
            <a:ext cx="7979700" cy="3984900"/>
          </a:xfrm>
          <a:prstGeom prst="rect">
            <a:avLst/>
          </a:prstGeom>
          <a:noFill/>
          <a:ln>
            <a:noFill/>
          </a:ln>
        </p:spPr>
        <p:txBody>
          <a:bodyPr anchorCtr="0" anchor="t" bIns="0" lIns="0" spcFirstLastPara="1" rIns="0" wrap="square" tIns="0">
            <a:spAutoFit/>
          </a:bodyPr>
          <a:lstStyle/>
          <a:p>
            <a:pPr indent="0" lvl="0" marL="0" marR="0" rtl="0" algn="l">
              <a:lnSpc>
                <a:spcPct val="138045"/>
              </a:lnSpc>
              <a:spcBef>
                <a:spcPts val="0"/>
              </a:spcBef>
              <a:spcAft>
                <a:spcPts val="0"/>
              </a:spcAft>
              <a:buNone/>
            </a:pPr>
            <a:r>
              <a:rPr b="0" i="0" lang="en-US" sz="3275" u="none" cap="none" strike="noStrike">
                <a:solidFill>
                  <a:srgbClr val="1A1A1A"/>
                </a:solidFill>
                <a:latin typeface="DM Sans"/>
                <a:ea typeface="DM Sans"/>
                <a:cs typeface="DM Sans"/>
                <a:sym typeface="DM Sans"/>
              </a:rPr>
              <a:t>Esta es una empresa nueva que se dedica a la </a:t>
            </a:r>
            <a:r>
              <a:rPr lang="en-US" sz="3275">
                <a:solidFill>
                  <a:srgbClr val="1A1A1A"/>
                </a:solidFill>
                <a:latin typeface="DM Sans"/>
                <a:ea typeface="DM Sans"/>
                <a:cs typeface="DM Sans"/>
                <a:sym typeface="DM Sans"/>
              </a:rPr>
              <a:t>confección</a:t>
            </a:r>
            <a:r>
              <a:rPr b="0" i="0" lang="en-US" sz="3275" u="none" cap="none" strike="noStrike">
                <a:solidFill>
                  <a:srgbClr val="1A1A1A"/>
                </a:solidFill>
                <a:latin typeface="DM Sans"/>
                <a:ea typeface="DM Sans"/>
                <a:cs typeface="DM Sans"/>
                <a:sym typeface="DM Sans"/>
              </a:rPr>
              <a:t> de prendas de Jean, </a:t>
            </a:r>
            <a:r>
              <a:rPr lang="en-US" sz="3275">
                <a:solidFill>
                  <a:srgbClr val="1A1A1A"/>
                </a:solidFill>
                <a:latin typeface="DM Sans"/>
                <a:ea typeface="DM Sans"/>
                <a:cs typeface="DM Sans"/>
                <a:sym typeface="DM Sans"/>
              </a:rPr>
              <a:t>está</a:t>
            </a:r>
            <a:r>
              <a:rPr b="0" i="0" lang="en-US" sz="3275" u="none" cap="none" strike="noStrike">
                <a:solidFill>
                  <a:srgbClr val="1A1A1A"/>
                </a:solidFill>
                <a:latin typeface="DM Sans"/>
                <a:ea typeface="DM Sans"/>
                <a:cs typeface="DM Sans"/>
                <a:sym typeface="DM Sans"/>
              </a:rPr>
              <a:t> ubicada sobre la Carrera novena con calle 48 en la localidad Rafael Uribe Uribe, esta trabaja bajo pedido con convenio de empresas mas grandes </a:t>
            </a:r>
            <a:endParaRPr/>
          </a:p>
        </p:txBody>
      </p:sp>
      <p:sp>
        <p:nvSpPr>
          <p:cNvPr id="103" name="Google Shape;103;p2"/>
          <p:cNvSpPr/>
          <p:nvPr/>
        </p:nvSpPr>
        <p:spPr>
          <a:xfrm>
            <a:off x="-3588384" y="6507120"/>
            <a:ext cx="11461151" cy="11760509"/>
          </a:xfrm>
          <a:custGeom>
            <a:rect b="b" l="l" r="r" t="t"/>
            <a:pathLst>
              <a:path extrusionOk="0" h="11760509" w="11461151">
                <a:moveTo>
                  <a:pt x="0" y="0"/>
                </a:moveTo>
                <a:lnTo>
                  <a:pt x="11461151" y="0"/>
                </a:lnTo>
                <a:lnTo>
                  <a:pt x="11461151" y="11760509"/>
                </a:lnTo>
                <a:lnTo>
                  <a:pt x="0" y="1176050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07" name="Shape 107"/>
        <p:cNvGrpSpPr/>
        <p:nvPr/>
      </p:nvGrpSpPr>
      <p:grpSpPr>
        <a:xfrm>
          <a:off x="0" y="0"/>
          <a:ext cx="0" cy="0"/>
          <a:chOff x="0" y="0"/>
          <a:chExt cx="0" cy="0"/>
        </a:xfrm>
      </p:grpSpPr>
      <p:sp>
        <p:nvSpPr>
          <p:cNvPr id="108" name="Google Shape;108;p3"/>
          <p:cNvSpPr/>
          <p:nvPr/>
        </p:nvSpPr>
        <p:spPr>
          <a:xfrm>
            <a:off x="2847391" y="5464857"/>
            <a:ext cx="3036491" cy="3036491"/>
          </a:xfrm>
          <a:custGeom>
            <a:rect b="b" l="l" r="r" t="t"/>
            <a:pathLst>
              <a:path extrusionOk="0" h="3036491" w="3036491">
                <a:moveTo>
                  <a:pt x="0" y="0"/>
                </a:moveTo>
                <a:lnTo>
                  <a:pt x="3036491" y="0"/>
                </a:lnTo>
                <a:lnTo>
                  <a:pt x="3036491" y="3036491"/>
                </a:lnTo>
                <a:lnTo>
                  <a:pt x="0" y="3036491"/>
                </a:lnTo>
                <a:lnTo>
                  <a:pt x="0" y="0"/>
                </a:lnTo>
                <a:close/>
              </a:path>
            </a:pathLst>
          </a:custGeom>
          <a:blipFill rotWithShape="1">
            <a:blip r:embed="rId3">
              <a:alphaModFix/>
            </a:blip>
            <a:stretch>
              <a:fillRect b="0" l="0" r="0" t="0"/>
            </a:stretch>
          </a:blipFill>
          <a:ln>
            <a:noFill/>
          </a:ln>
        </p:spPr>
      </p:sp>
      <p:sp>
        <p:nvSpPr>
          <p:cNvPr id="109" name="Google Shape;109;p3"/>
          <p:cNvSpPr/>
          <p:nvPr/>
        </p:nvSpPr>
        <p:spPr>
          <a:xfrm>
            <a:off x="7520778" y="5464857"/>
            <a:ext cx="2914861" cy="2914861"/>
          </a:xfrm>
          <a:custGeom>
            <a:rect b="b" l="l" r="r" t="t"/>
            <a:pathLst>
              <a:path extrusionOk="0" h="2914861" w="2914861">
                <a:moveTo>
                  <a:pt x="0" y="0"/>
                </a:moveTo>
                <a:lnTo>
                  <a:pt x="2914862" y="0"/>
                </a:lnTo>
                <a:lnTo>
                  <a:pt x="2914862" y="2914861"/>
                </a:lnTo>
                <a:lnTo>
                  <a:pt x="0" y="2914861"/>
                </a:lnTo>
                <a:lnTo>
                  <a:pt x="0" y="0"/>
                </a:lnTo>
                <a:close/>
              </a:path>
            </a:pathLst>
          </a:custGeom>
          <a:blipFill rotWithShape="1">
            <a:blip r:embed="rId3">
              <a:alphaModFix/>
            </a:blip>
            <a:stretch>
              <a:fillRect b="0" l="0" r="0" t="0"/>
            </a:stretch>
          </a:blipFill>
          <a:ln>
            <a:noFill/>
          </a:ln>
        </p:spPr>
      </p:sp>
      <p:sp>
        <p:nvSpPr>
          <p:cNvPr id="110" name="Google Shape;110;p3"/>
          <p:cNvSpPr/>
          <p:nvPr/>
        </p:nvSpPr>
        <p:spPr>
          <a:xfrm>
            <a:off x="13252625" y="-3759903"/>
            <a:ext cx="9333423" cy="9577206"/>
          </a:xfrm>
          <a:custGeom>
            <a:rect b="b" l="l" r="r" t="t"/>
            <a:pathLst>
              <a:path extrusionOk="0" h="9577206" w="9333423">
                <a:moveTo>
                  <a:pt x="0" y="0"/>
                </a:moveTo>
                <a:lnTo>
                  <a:pt x="9333423" y="0"/>
                </a:lnTo>
                <a:lnTo>
                  <a:pt x="9333423" y="9577206"/>
                </a:lnTo>
                <a:lnTo>
                  <a:pt x="0" y="9577206"/>
                </a:lnTo>
                <a:lnTo>
                  <a:pt x="0" y="0"/>
                </a:lnTo>
                <a:close/>
              </a:path>
            </a:pathLst>
          </a:custGeom>
          <a:blipFill rotWithShape="1">
            <a:blip r:embed="rId4">
              <a:alphaModFix/>
            </a:blip>
            <a:stretch>
              <a:fillRect b="0" l="0" r="0" t="0"/>
            </a:stretch>
          </a:blipFill>
          <a:ln>
            <a:noFill/>
          </a:ln>
        </p:spPr>
      </p:sp>
      <p:sp>
        <p:nvSpPr>
          <p:cNvPr id="111" name="Google Shape;111;p3"/>
          <p:cNvSpPr/>
          <p:nvPr/>
        </p:nvSpPr>
        <p:spPr>
          <a:xfrm>
            <a:off x="11781204" y="5464857"/>
            <a:ext cx="2802507" cy="2802507"/>
          </a:xfrm>
          <a:custGeom>
            <a:rect b="b" l="l" r="r" t="t"/>
            <a:pathLst>
              <a:path extrusionOk="0" h="2802507" w="2802507">
                <a:moveTo>
                  <a:pt x="0" y="0"/>
                </a:moveTo>
                <a:lnTo>
                  <a:pt x="2802507" y="0"/>
                </a:lnTo>
                <a:lnTo>
                  <a:pt x="2802507" y="2802507"/>
                </a:lnTo>
                <a:lnTo>
                  <a:pt x="0" y="2802507"/>
                </a:lnTo>
                <a:lnTo>
                  <a:pt x="0" y="0"/>
                </a:lnTo>
                <a:close/>
              </a:path>
            </a:pathLst>
          </a:custGeom>
          <a:blipFill rotWithShape="1">
            <a:blip r:embed="rId3">
              <a:alphaModFix/>
            </a:blip>
            <a:stretch>
              <a:fillRect b="0" l="0" r="0" t="0"/>
            </a:stretch>
          </a:blipFill>
          <a:ln>
            <a:noFill/>
          </a:ln>
        </p:spPr>
      </p:sp>
      <p:sp>
        <p:nvSpPr>
          <p:cNvPr id="112" name="Google Shape;112;p3"/>
          <p:cNvSpPr txBox="1"/>
          <p:nvPr/>
        </p:nvSpPr>
        <p:spPr>
          <a:xfrm>
            <a:off x="3367511" y="1420273"/>
            <a:ext cx="11552977" cy="1165161"/>
          </a:xfrm>
          <a:prstGeom prst="rect">
            <a:avLst/>
          </a:prstGeom>
          <a:noFill/>
          <a:ln>
            <a:noFill/>
          </a:ln>
        </p:spPr>
        <p:txBody>
          <a:bodyPr anchorCtr="0" anchor="t" bIns="0" lIns="0" spcFirstLastPara="1" rIns="0" wrap="square" tIns="0">
            <a:spAutoFit/>
          </a:bodyPr>
          <a:lstStyle/>
          <a:p>
            <a:pPr indent="0" lvl="0" marL="0" marR="0" rtl="0" algn="ctr">
              <a:lnSpc>
                <a:spcPct val="138002"/>
              </a:lnSpc>
              <a:spcBef>
                <a:spcPts val="0"/>
              </a:spcBef>
              <a:spcAft>
                <a:spcPts val="0"/>
              </a:spcAft>
              <a:buNone/>
            </a:pPr>
            <a:r>
              <a:rPr b="1" i="0" lang="en-US" sz="6947" u="none" cap="none" strike="noStrike">
                <a:solidFill>
                  <a:srgbClr val="F2F4F5"/>
                </a:solidFill>
                <a:latin typeface="Oswald"/>
                <a:ea typeface="Oswald"/>
                <a:cs typeface="Oswald"/>
                <a:sym typeface="Oswald"/>
              </a:rPr>
              <a:t>Planteamiento del problema</a:t>
            </a:r>
            <a:endParaRPr/>
          </a:p>
        </p:txBody>
      </p:sp>
      <p:sp>
        <p:nvSpPr>
          <p:cNvPr id="113" name="Google Shape;113;p3"/>
          <p:cNvSpPr/>
          <p:nvPr/>
        </p:nvSpPr>
        <p:spPr>
          <a:xfrm>
            <a:off x="-3463037" y="-5866298"/>
            <a:ext cx="9333423" cy="9577206"/>
          </a:xfrm>
          <a:custGeom>
            <a:rect b="b" l="l" r="r" t="t"/>
            <a:pathLst>
              <a:path extrusionOk="0" h="9577206" w="9333423">
                <a:moveTo>
                  <a:pt x="0" y="0"/>
                </a:moveTo>
                <a:lnTo>
                  <a:pt x="9333423" y="0"/>
                </a:lnTo>
                <a:lnTo>
                  <a:pt x="9333423" y="9577206"/>
                </a:lnTo>
                <a:lnTo>
                  <a:pt x="0" y="9577206"/>
                </a:lnTo>
                <a:lnTo>
                  <a:pt x="0" y="0"/>
                </a:lnTo>
                <a:close/>
              </a:path>
            </a:pathLst>
          </a:custGeom>
          <a:blipFill rotWithShape="1">
            <a:blip r:embed="rId4">
              <a:alphaModFix/>
            </a:blip>
            <a:stretch>
              <a:fillRect b="0" l="0" r="0" t="0"/>
            </a:stretch>
          </a:blipFill>
          <a:ln>
            <a:noFill/>
          </a:ln>
        </p:spPr>
      </p:sp>
      <p:sp>
        <p:nvSpPr>
          <p:cNvPr id="114" name="Google Shape;114;p3"/>
          <p:cNvSpPr/>
          <p:nvPr/>
        </p:nvSpPr>
        <p:spPr>
          <a:xfrm rot="-1887814">
            <a:off x="14993922" y="7627206"/>
            <a:ext cx="7634959" cy="7834379"/>
          </a:xfrm>
          <a:custGeom>
            <a:rect b="b" l="l" r="r" t="t"/>
            <a:pathLst>
              <a:path extrusionOk="0" h="7834379" w="7634959">
                <a:moveTo>
                  <a:pt x="0" y="0"/>
                </a:moveTo>
                <a:lnTo>
                  <a:pt x="7634958" y="0"/>
                </a:lnTo>
                <a:lnTo>
                  <a:pt x="7634958" y="7834379"/>
                </a:lnTo>
                <a:lnTo>
                  <a:pt x="0" y="7834379"/>
                </a:lnTo>
                <a:lnTo>
                  <a:pt x="0" y="0"/>
                </a:lnTo>
                <a:close/>
              </a:path>
            </a:pathLst>
          </a:custGeom>
          <a:blipFill rotWithShape="1">
            <a:blip r:embed="rId4">
              <a:alphaModFix/>
            </a:blip>
            <a:stretch>
              <a:fillRect b="0" l="0" r="0" t="0"/>
            </a:stretch>
          </a:blipFill>
          <a:ln>
            <a:noFill/>
          </a:ln>
        </p:spPr>
      </p:sp>
      <p:sp>
        <p:nvSpPr>
          <p:cNvPr id="115" name="Google Shape;115;p3"/>
          <p:cNvSpPr/>
          <p:nvPr/>
        </p:nvSpPr>
        <p:spPr>
          <a:xfrm rot="-4176364">
            <a:off x="-4084727" y="8222639"/>
            <a:ext cx="8815232" cy="9045480"/>
          </a:xfrm>
          <a:custGeom>
            <a:rect b="b" l="l" r="r" t="t"/>
            <a:pathLst>
              <a:path extrusionOk="0" h="9045480" w="8815232">
                <a:moveTo>
                  <a:pt x="0" y="0"/>
                </a:moveTo>
                <a:lnTo>
                  <a:pt x="8815232" y="0"/>
                </a:lnTo>
                <a:lnTo>
                  <a:pt x="8815232" y="9045481"/>
                </a:lnTo>
                <a:lnTo>
                  <a:pt x="0" y="9045481"/>
                </a:lnTo>
                <a:lnTo>
                  <a:pt x="0" y="0"/>
                </a:lnTo>
                <a:close/>
              </a:path>
            </a:pathLst>
          </a:custGeom>
          <a:blipFill rotWithShape="1">
            <a:blip r:embed="rId4">
              <a:alphaModFix/>
            </a:blip>
            <a:stretch>
              <a:fillRect b="0" l="0" r="0" t="0"/>
            </a:stretch>
          </a:blipFill>
          <a:ln>
            <a:noFill/>
          </a:ln>
        </p:spPr>
      </p:sp>
      <p:grpSp>
        <p:nvGrpSpPr>
          <p:cNvPr id="116" name="Google Shape;116;p3"/>
          <p:cNvGrpSpPr/>
          <p:nvPr/>
        </p:nvGrpSpPr>
        <p:grpSpPr>
          <a:xfrm>
            <a:off x="2847391" y="7999052"/>
            <a:ext cx="3250682" cy="1444049"/>
            <a:chOff x="0" y="-238125"/>
            <a:chExt cx="870410" cy="386661"/>
          </a:xfrm>
        </p:grpSpPr>
        <p:sp>
          <p:nvSpPr>
            <p:cNvPr id="117" name="Google Shape;117;p3"/>
            <p:cNvSpPr/>
            <p:nvPr/>
          </p:nvSpPr>
          <p:spPr>
            <a:xfrm>
              <a:off x="0" y="0"/>
              <a:ext cx="870410" cy="148536"/>
            </a:xfrm>
            <a:custGeom>
              <a:rect b="b" l="l" r="r" t="t"/>
              <a:pathLst>
                <a:path extrusionOk="0" h="148536" w="870410">
                  <a:moveTo>
                    <a:pt x="42869" y="0"/>
                  </a:moveTo>
                  <a:lnTo>
                    <a:pt x="827541" y="0"/>
                  </a:lnTo>
                  <a:cubicBezTo>
                    <a:pt x="851217" y="0"/>
                    <a:pt x="870410" y="19193"/>
                    <a:pt x="870410" y="42869"/>
                  </a:cubicBezTo>
                  <a:lnTo>
                    <a:pt x="870410" y="105667"/>
                  </a:lnTo>
                  <a:cubicBezTo>
                    <a:pt x="870410" y="129343"/>
                    <a:pt x="851217" y="148536"/>
                    <a:pt x="827541" y="148536"/>
                  </a:cubicBezTo>
                  <a:lnTo>
                    <a:pt x="42869" y="148536"/>
                  </a:lnTo>
                  <a:cubicBezTo>
                    <a:pt x="31500" y="148536"/>
                    <a:pt x="20596" y="144020"/>
                    <a:pt x="12556" y="135980"/>
                  </a:cubicBezTo>
                  <a:cubicBezTo>
                    <a:pt x="4517" y="127941"/>
                    <a:pt x="0" y="117037"/>
                    <a:pt x="0" y="105667"/>
                  </a:cubicBezTo>
                  <a:lnTo>
                    <a:pt x="0" y="42869"/>
                  </a:lnTo>
                  <a:cubicBezTo>
                    <a:pt x="0" y="19193"/>
                    <a:pt x="19193" y="0"/>
                    <a:pt x="42869" y="0"/>
                  </a:cubicBezTo>
                  <a:close/>
                </a:path>
              </a:pathLst>
            </a:custGeom>
            <a:solidFill>
              <a:srgbClr val="F2F4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nvSpPr>
          <p:spPr>
            <a:xfrm>
              <a:off x="0" y="-238125"/>
              <a:ext cx="870410" cy="386661"/>
            </a:xfrm>
            <a:prstGeom prst="rect">
              <a:avLst/>
            </a:prstGeom>
            <a:noFill/>
            <a:ln>
              <a:noFill/>
            </a:ln>
          </p:spPr>
          <p:txBody>
            <a:bodyPr anchorCtr="0" anchor="ctr" bIns="50800" lIns="50800" spcFirstLastPara="1" rIns="50800" wrap="square" tIns="50800">
              <a:noAutofit/>
            </a:bodyPr>
            <a:lstStyle/>
            <a:p>
              <a:pPr indent="0" lvl="0" marL="0" marR="0" rtl="0" algn="ctr">
                <a:lnSpc>
                  <a:spcPct val="220998"/>
                </a:lnSpc>
                <a:spcBef>
                  <a:spcPts val="0"/>
                </a:spcBef>
                <a:spcAft>
                  <a:spcPts val="0"/>
                </a:spcAft>
                <a:buNone/>
              </a:pPr>
              <a:r>
                <a:rPr b="1" i="0" lang="en-US" sz="2524" u="none" cap="none" strike="noStrike">
                  <a:solidFill>
                    <a:srgbClr val="131211"/>
                  </a:solidFill>
                  <a:latin typeface="DM Sans"/>
                  <a:ea typeface="DM Sans"/>
                  <a:cs typeface="DM Sans"/>
                  <a:sym typeface="DM Sans"/>
                </a:rPr>
                <a:t>Tiempo</a:t>
              </a:r>
              <a:endParaRPr/>
            </a:p>
          </p:txBody>
        </p:sp>
      </p:grpSp>
      <p:grpSp>
        <p:nvGrpSpPr>
          <p:cNvPr id="119" name="Google Shape;119;p3"/>
          <p:cNvGrpSpPr/>
          <p:nvPr/>
        </p:nvGrpSpPr>
        <p:grpSpPr>
          <a:xfrm>
            <a:off x="7384453" y="7814251"/>
            <a:ext cx="3250682" cy="1444049"/>
            <a:chOff x="0" y="-238125"/>
            <a:chExt cx="870410" cy="386661"/>
          </a:xfrm>
        </p:grpSpPr>
        <p:sp>
          <p:nvSpPr>
            <p:cNvPr id="120" name="Google Shape;120;p3"/>
            <p:cNvSpPr/>
            <p:nvPr/>
          </p:nvSpPr>
          <p:spPr>
            <a:xfrm>
              <a:off x="0" y="0"/>
              <a:ext cx="870410" cy="148536"/>
            </a:xfrm>
            <a:custGeom>
              <a:rect b="b" l="l" r="r" t="t"/>
              <a:pathLst>
                <a:path extrusionOk="0" h="148536" w="870410">
                  <a:moveTo>
                    <a:pt x="42869" y="0"/>
                  </a:moveTo>
                  <a:lnTo>
                    <a:pt x="827541" y="0"/>
                  </a:lnTo>
                  <a:cubicBezTo>
                    <a:pt x="851217" y="0"/>
                    <a:pt x="870410" y="19193"/>
                    <a:pt x="870410" y="42869"/>
                  </a:cubicBezTo>
                  <a:lnTo>
                    <a:pt x="870410" y="105667"/>
                  </a:lnTo>
                  <a:cubicBezTo>
                    <a:pt x="870410" y="129343"/>
                    <a:pt x="851217" y="148536"/>
                    <a:pt x="827541" y="148536"/>
                  </a:cubicBezTo>
                  <a:lnTo>
                    <a:pt x="42869" y="148536"/>
                  </a:lnTo>
                  <a:cubicBezTo>
                    <a:pt x="31500" y="148536"/>
                    <a:pt x="20596" y="144020"/>
                    <a:pt x="12556" y="135980"/>
                  </a:cubicBezTo>
                  <a:cubicBezTo>
                    <a:pt x="4517" y="127941"/>
                    <a:pt x="0" y="117037"/>
                    <a:pt x="0" y="105667"/>
                  </a:cubicBezTo>
                  <a:lnTo>
                    <a:pt x="0" y="42869"/>
                  </a:lnTo>
                  <a:cubicBezTo>
                    <a:pt x="0" y="19193"/>
                    <a:pt x="19193" y="0"/>
                    <a:pt x="42869" y="0"/>
                  </a:cubicBezTo>
                  <a:close/>
                </a:path>
              </a:pathLst>
            </a:custGeom>
            <a:solidFill>
              <a:srgbClr val="F2F4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txBox="1"/>
            <p:nvPr/>
          </p:nvSpPr>
          <p:spPr>
            <a:xfrm>
              <a:off x="0" y="-238125"/>
              <a:ext cx="870410" cy="386661"/>
            </a:xfrm>
            <a:prstGeom prst="rect">
              <a:avLst/>
            </a:prstGeom>
            <a:noFill/>
            <a:ln>
              <a:noFill/>
            </a:ln>
          </p:spPr>
          <p:txBody>
            <a:bodyPr anchorCtr="0" anchor="ctr" bIns="50800" lIns="50800" spcFirstLastPara="1" rIns="50800" wrap="square" tIns="50800">
              <a:noAutofit/>
            </a:bodyPr>
            <a:lstStyle/>
            <a:p>
              <a:pPr indent="0" lvl="0" marL="0" marR="0" rtl="0" algn="ctr">
                <a:lnSpc>
                  <a:spcPct val="220998"/>
                </a:lnSpc>
                <a:spcBef>
                  <a:spcPts val="0"/>
                </a:spcBef>
                <a:spcAft>
                  <a:spcPts val="0"/>
                </a:spcAft>
                <a:buNone/>
              </a:pPr>
              <a:r>
                <a:rPr b="1" i="0" lang="en-US" sz="2524" u="none" cap="none" strike="noStrike">
                  <a:solidFill>
                    <a:srgbClr val="131211"/>
                  </a:solidFill>
                  <a:latin typeface="DM Sans"/>
                  <a:ea typeface="DM Sans"/>
                  <a:cs typeface="DM Sans"/>
                  <a:sym typeface="DM Sans"/>
                </a:rPr>
                <a:t>Ganancias</a:t>
              </a:r>
              <a:endParaRPr/>
            </a:p>
          </p:txBody>
        </p:sp>
      </p:grpSp>
      <p:grpSp>
        <p:nvGrpSpPr>
          <p:cNvPr id="122" name="Google Shape;122;p3"/>
          <p:cNvGrpSpPr/>
          <p:nvPr/>
        </p:nvGrpSpPr>
        <p:grpSpPr>
          <a:xfrm>
            <a:off x="11669806" y="7721686"/>
            <a:ext cx="3250682" cy="1444049"/>
            <a:chOff x="0" y="-238125"/>
            <a:chExt cx="870410" cy="386661"/>
          </a:xfrm>
        </p:grpSpPr>
        <p:sp>
          <p:nvSpPr>
            <p:cNvPr id="123" name="Google Shape;123;p3"/>
            <p:cNvSpPr/>
            <p:nvPr/>
          </p:nvSpPr>
          <p:spPr>
            <a:xfrm>
              <a:off x="0" y="0"/>
              <a:ext cx="870410" cy="148536"/>
            </a:xfrm>
            <a:custGeom>
              <a:rect b="b" l="l" r="r" t="t"/>
              <a:pathLst>
                <a:path extrusionOk="0" h="148536" w="870410">
                  <a:moveTo>
                    <a:pt x="42869" y="0"/>
                  </a:moveTo>
                  <a:lnTo>
                    <a:pt x="827541" y="0"/>
                  </a:lnTo>
                  <a:cubicBezTo>
                    <a:pt x="851217" y="0"/>
                    <a:pt x="870410" y="19193"/>
                    <a:pt x="870410" y="42869"/>
                  </a:cubicBezTo>
                  <a:lnTo>
                    <a:pt x="870410" y="105667"/>
                  </a:lnTo>
                  <a:cubicBezTo>
                    <a:pt x="870410" y="129343"/>
                    <a:pt x="851217" y="148536"/>
                    <a:pt x="827541" y="148536"/>
                  </a:cubicBezTo>
                  <a:lnTo>
                    <a:pt x="42869" y="148536"/>
                  </a:lnTo>
                  <a:cubicBezTo>
                    <a:pt x="31500" y="148536"/>
                    <a:pt x="20596" y="144020"/>
                    <a:pt x="12556" y="135980"/>
                  </a:cubicBezTo>
                  <a:cubicBezTo>
                    <a:pt x="4517" y="127941"/>
                    <a:pt x="0" y="117037"/>
                    <a:pt x="0" y="105667"/>
                  </a:cubicBezTo>
                  <a:lnTo>
                    <a:pt x="0" y="42869"/>
                  </a:lnTo>
                  <a:cubicBezTo>
                    <a:pt x="0" y="19193"/>
                    <a:pt x="19193" y="0"/>
                    <a:pt x="42869" y="0"/>
                  </a:cubicBezTo>
                  <a:close/>
                </a:path>
              </a:pathLst>
            </a:custGeom>
            <a:solidFill>
              <a:srgbClr val="F2F4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txBox="1"/>
            <p:nvPr/>
          </p:nvSpPr>
          <p:spPr>
            <a:xfrm>
              <a:off x="0" y="-238125"/>
              <a:ext cx="870410" cy="386661"/>
            </a:xfrm>
            <a:prstGeom prst="rect">
              <a:avLst/>
            </a:prstGeom>
            <a:noFill/>
            <a:ln>
              <a:noFill/>
            </a:ln>
          </p:spPr>
          <p:txBody>
            <a:bodyPr anchorCtr="0" anchor="ctr" bIns="50800" lIns="50800" spcFirstLastPara="1" rIns="50800" wrap="square" tIns="50800">
              <a:noAutofit/>
            </a:bodyPr>
            <a:lstStyle/>
            <a:p>
              <a:pPr indent="0" lvl="0" marL="0" marR="0" rtl="0" algn="ctr">
                <a:lnSpc>
                  <a:spcPct val="220998"/>
                </a:lnSpc>
                <a:spcBef>
                  <a:spcPts val="0"/>
                </a:spcBef>
                <a:spcAft>
                  <a:spcPts val="0"/>
                </a:spcAft>
                <a:buNone/>
              </a:pPr>
              <a:r>
                <a:rPr b="1" i="0" lang="en-US" sz="2524" u="none" cap="none" strike="noStrike">
                  <a:solidFill>
                    <a:srgbClr val="131211"/>
                  </a:solidFill>
                  <a:latin typeface="DM Sans"/>
                  <a:ea typeface="DM Sans"/>
                  <a:cs typeface="DM Sans"/>
                  <a:sym typeface="DM Sans"/>
                </a:rPr>
                <a:t>Rentabilidad</a:t>
              </a:r>
              <a:endParaRPr/>
            </a:p>
          </p:txBody>
        </p:sp>
      </p:grpSp>
      <p:sp>
        <p:nvSpPr>
          <p:cNvPr id="125" name="Google Shape;125;p3"/>
          <p:cNvSpPr/>
          <p:nvPr/>
        </p:nvSpPr>
        <p:spPr>
          <a:xfrm>
            <a:off x="12503670" y="6246620"/>
            <a:ext cx="1357574" cy="1377612"/>
          </a:xfrm>
          <a:custGeom>
            <a:rect b="b" l="l" r="r" t="t"/>
            <a:pathLst>
              <a:path extrusionOk="0" h="1377612" w="1357574">
                <a:moveTo>
                  <a:pt x="0" y="0"/>
                </a:moveTo>
                <a:lnTo>
                  <a:pt x="1357574" y="0"/>
                </a:lnTo>
                <a:lnTo>
                  <a:pt x="1357574" y="1377612"/>
                </a:lnTo>
                <a:lnTo>
                  <a:pt x="0" y="1377612"/>
                </a:lnTo>
                <a:lnTo>
                  <a:pt x="0" y="0"/>
                </a:lnTo>
                <a:close/>
              </a:path>
            </a:pathLst>
          </a:custGeom>
          <a:blipFill rotWithShape="1">
            <a:blip r:embed="rId5">
              <a:alphaModFix/>
            </a:blip>
            <a:stretch>
              <a:fillRect b="0" l="0" r="0" t="0"/>
            </a:stretch>
          </a:blipFill>
          <a:ln>
            <a:noFill/>
          </a:ln>
        </p:spPr>
      </p:sp>
      <p:sp>
        <p:nvSpPr>
          <p:cNvPr id="126" name="Google Shape;126;p3"/>
          <p:cNvSpPr/>
          <p:nvPr/>
        </p:nvSpPr>
        <p:spPr>
          <a:xfrm>
            <a:off x="8211959" y="6068466"/>
            <a:ext cx="1525784" cy="1671676"/>
          </a:xfrm>
          <a:custGeom>
            <a:rect b="b" l="l" r="r" t="t"/>
            <a:pathLst>
              <a:path extrusionOk="0" h="1671676" w="1525784">
                <a:moveTo>
                  <a:pt x="0" y="0"/>
                </a:moveTo>
                <a:lnTo>
                  <a:pt x="1525784" y="0"/>
                </a:lnTo>
                <a:lnTo>
                  <a:pt x="1525784" y="1671676"/>
                </a:lnTo>
                <a:lnTo>
                  <a:pt x="0" y="1671676"/>
                </a:lnTo>
                <a:lnTo>
                  <a:pt x="0" y="0"/>
                </a:lnTo>
                <a:close/>
              </a:path>
            </a:pathLst>
          </a:custGeom>
          <a:blipFill rotWithShape="1">
            <a:blip r:embed="rId6">
              <a:alphaModFix/>
            </a:blip>
            <a:stretch>
              <a:fillRect b="0" l="0" r="0" t="0"/>
            </a:stretch>
          </a:blipFill>
          <a:ln>
            <a:noFill/>
          </a:ln>
        </p:spPr>
      </p:sp>
      <p:sp>
        <p:nvSpPr>
          <p:cNvPr id="127" name="Google Shape;127;p3"/>
          <p:cNvSpPr/>
          <p:nvPr/>
        </p:nvSpPr>
        <p:spPr>
          <a:xfrm>
            <a:off x="3450327" y="6002103"/>
            <a:ext cx="1707419" cy="1927109"/>
          </a:xfrm>
          <a:custGeom>
            <a:rect b="b" l="l" r="r" t="t"/>
            <a:pathLst>
              <a:path extrusionOk="0" h="1927109" w="1707419">
                <a:moveTo>
                  <a:pt x="0" y="0"/>
                </a:moveTo>
                <a:lnTo>
                  <a:pt x="1707419" y="0"/>
                </a:lnTo>
                <a:lnTo>
                  <a:pt x="1707419" y="1927109"/>
                </a:lnTo>
                <a:lnTo>
                  <a:pt x="0" y="1927109"/>
                </a:lnTo>
                <a:lnTo>
                  <a:pt x="0" y="0"/>
                </a:lnTo>
                <a:close/>
              </a:path>
            </a:pathLst>
          </a:custGeom>
          <a:blipFill rotWithShape="1">
            <a:blip r:embed="rId7">
              <a:alphaModFix/>
            </a:blip>
            <a:stretch>
              <a:fillRect b="0" l="-2825" r="-10041" t="0"/>
            </a:stretch>
          </a:blipFill>
          <a:ln>
            <a:noFill/>
          </a:ln>
        </p:spPr>
      </p:sp>
      <p:sp>
        <p:nvSpPr>
          <p:cNvPr id="128" name="Google Shape;128;p3"/>
          <p:cNvSpPr txBox="1"/>
          <p:nvPr/>
        </p:nvSpPr>
        <p:spPr>
          <a:xfrm>
            <a:off x="1434738" y="2731119"/>
            <a:ext cx="15418500" cy="2493600"/>
          </a:xfrm>
          <a:prstGeom prst="rect">
            <a:avLst/>
          </a:prstGeom>
          <a:noFill/>
          <a:ln>
            <a:noFill/>
          </a:ln>
        </p:spPr>
        <p:txBody>
          <a:bodyPr anchorCtr="0" anchor="t" bIns="0" lIns="0" spcFirstLastPara="1" rIns="0" wrap="square" tIns="0">
            <a:spAutoFit/>
          </a:bodyPr>
          <a:lstStyle/>
          <a:p>
            <a:pPr indent="0" lvl="0" marL="0" marR="0" rtl="0" algn="ctr">
              <a:lnSpc>
                <a:spcPct val="138043"/>
              </a:lnSpc>
              <a:spcBef>
                <a:spcPts val="0"/>
              </a:spcBef>
              <a:spcAft>
                <a:spcPts val="0"/>
              </a:spcAft>
              <a:buNone/>
            </a:pPr>
            <a:r>
              <a:rPr b="0" i="0" lang="en-US" sz="2484" u="none" cap="none" strike="noStrike">
                <a:solidFill>
                  <a:srgbClr val="F2F4F5"/>
                </a:solidFill>
                <a:latin typeface="DM Sans"/>
                <a:ea typeface="DM Sans"/>
                <a:cs typeface="DM Sans"/>
                <a:sym typeface="DM Sans"/>
              </a:rPr>
              <a:t>En la empresa, la información sobre las tareas asignadas y realizadas por los empleados se maneja de forma oral. Además, los procesos se llevan de manera manual y desorganizada, especialmente el registro del trabajo realizado por cada operario. También se presenta falta de organización en la gestión de la información relacionada con las actividades laborales.</a:t>
            </a:r>
            <a:endParaRPr/>
          </a:p>
          <a:p>
            <a:pPr indent="0" lvl="0" marL="0" marR="0" rtl="0" algn="ctr">
              <a:lnSpc>
                <a:spcPct val="138043"/>
              </a:lnSpc>
              <a:spcBef>
                <a:spcPts val="0"/>
              </a:spcBef>
              <a:spcAft>
                <a:spcPts val="0"/>
              </a:spcAft>
              <a:buNone/>
            </a:pPr>
            <a:r>
              <a:rPr b="0" i="0" lang="en-US" sz="2484" u="none" cap="none" strike="noStrike">
                <a:solidFill>
                  <a:srgbClr val="F2F4F5"/>
                </a:solidFill>
                <a:latin typeface="DM Sans"/>
                <a:ea typeface="DM Sans"/>
                <a:cs typeface="DM Sans"/>
                <a:sym typeface="DM Sans"/>
              </a:rPr>
              <a:t>Lo cual genera </a:t>
            </a:r>
            <a:r>
              <a:rPr lang="en-US" sz="2484">
                <a:solidFill>
                  <a:srgbClr val="F2F4F5"/>
                </a:solidFill>
                <a:latin typeface="DM Sans"/>
                <a:ea typeface="DM Sans"/>
                <a:cs typeface="DM Sans"/>
                <a:sym typeface="DM Sans"/>
              </a:rPr>
              <a:t>pérdida</a:t>
            </a:r>
            <a:r>
              <a:rPr b="0" i="0" lang="en-US" sz="2484" u="none" cap="none" strike="noStrike">
                <a:solidFill>
                  <a:srgbClr val="F2F4F5"/>
                </a:solidFill>
                <a:latin typeface="DM Sans"/>
                <a:ea typeface="DM Sans"/>
                <a:cs typeface="DM Sans"/>
                <a:sym typeface="DM Sans"/>
              </a:rPr>
              <a:t> 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32" name="Shape 132"/>
        <p:cNvGrpSpPr/>
        <p:nvPr/>
      </p:nvGrpSpPr>
      <p:grpSpPr>
        <a:xfrm>
          <a:off x="0" y="0"/>
          <a:ext cx="0" cy="0"/>
          <a:chOff x="0" y="0"/>
          <a:chExt cx="0" cy="0"/>
        </a:xfrm>
      </p:grpSpPr>
      <p:sp>
        <p:nvSpPr>
          <p:cNvPr id="133" name="Google Shape;133;p4"/>
          <p:cNvSpPr/>
          <p:nvPr/>
        </p:nvSpPr>
        <p:spPr>
          <a:xfrm rot="3407869">
            <a:off x="7589602" y="1118883"/>
            <a:ext cx="12471670" cy="5351480"/>
          </a:xfrm>
          <a:custGeom>
            <a:rect b="b" l="l" r="r" t="t"/>
            <a:pathLst>
              <a:path extrusionOk="0" h="5351480" w="12471670">
                <a:moveTo>
                  <a:pt x="0" y="0"/>
                </a:moveTo>
                <a:lnTo>
                  <a:pt x="12471670" y="0"/>
                </a:lnTo>
                <a:lnTo>
                  <a:pt x="12471670" y="5351480"/>
                </a:lnTo>
                <a:lnTo>
                  <a:pt x="0" y="5351480"/>
                </a:lnTo>
                <a:lnTo>
                  <a:pt x="0" y="0"/>
                </a:lnTo>
                <a:close/>
              </a:path>
            </a:pathLst>
          </a:custGeom>
          <a:blipFill rotWithShape="1">
            <a:blip r:embed="rId3">
              <a:alphaModFix/>
            </a:blip>
            <a:stretch>
              <a:fillRect b="0" l="0" r="0" t="0"/>
            </a:stretch>
          </a:blipFill>
          <a:ln>
            <a:noFill/>
          </a:ln>
        </p:spPr>
      </p:sp>
      <p:sp>
        <p:nvSpPr>
          <p:cNvPr id="134" name="Google Shape;134;p4"/>
          <p:cNvSpPr/>
          <p:nvPr/>
        </p:nvSpPr>
        <p:spPr>
          <a:xfrm rot="3407869">
            <a:off x="-4696947" y="10150458"/>
            <a:ext cx="12471670" cy="5351480"/>
          </a:xfrm>
          <a:custGeom>
            <a:rect b="b" l="l" r="r" t="t"/>
            <a:pathLst>
              <a:path extrusionOk="0" h="5351480" w="12471670">
                <a:moveTo>
                  <a:pt x="0" y="0"/>
                </a:moveTo>
                <a:lnTo>
                  <a:pt x="12471670" y="0"/>
                </a:lnTo>
                <a:lnTo>
                  <a:pt x="12471670" y="5351480"/>
                </a:lnTo>
                <a:lnTo>
                  <a:pt x="0" y="5351480"/>
                </a:lnTo>
                <a:lnTo>
                  <a:pt x="0" y="0"/>
                </a:lnTo>
                <a:close/>
              </a:path>
            </a:pathLst>
          </a:custGeom>
          <a:blipFill rotWithShape="1">
            <a:blip r:embed="rId3">
              <a:alphaModFix/>
            </a:blip>
            <a:stretch>
              <a:fillRect b="0" l="0" r="0" t="0"/>
            </a:stretch>
          </a:blipFill>
          <a:ln>
            <a:noFill/>
          </a:ln>
        </p:spPr>
      </p:sp>
      <p:sp>
        <p:nvSpPr>
          <p:cNvPr id="135" name="Google Shape;135;p4"/>
          <p:cNvSpPr/>
          <p:nvPr/>
        </p:nvSpPr>
        <p:spPr>
          <a:xfrm>
            <a:off x="9784922" y="2570168"/>
            <a:ext cx="6969365" cy="5231457"/>
          </a:xfrm>
          <a:custGeom>
            <a:rect b="b" l="l" r="r" t="t"/>
            <a:pathLst>
              <a:path extrusionOk="0" h="5231457" w="6969365">
                <a:moveTo>
                  <a:pt x="0" y="0"/>
                </a:moveTo>
                <a:lnTo>
                  <a:pt x="6969365" y="0"/>
                </a:lnTo>
                <a:lnTo>
                  <a:pt x="6969365" y="5231458"/>
                </a:lnTo>
                <a:lnTo>
                  <a:pt x="0" y="5231458"/>
                </a:lnTo>
                <a:lnTo>
                  <a:pt x="0" y="0"/>
                </a:lnTo>
                <a:close/>
              </a:path>
            </a:pathLst>
          </a:custGeom>
          <a:blipFill rotWithShape="1">
            <a:blip r:embed="rId4">
              <a:alphaModFix/>
            </a:blip>
            <a:stretch>
              <a:fillRect b="0" l="0" r="0" t="0"/>
            </a:stretch>
          </a:blipFill>
          <a:ln>
            <a:noFill/>
          </a:ln>
        </p:spPr>
      </p:sp>
      <p:sp>
        <p:nvSpPr>
          <p:cNvPr id="136" name="Google Shape;136;p4"/>
          <p:cNvSpPr txBox="1"/>
          <p:nvPr/>
        </p:nvSpPr>
        <p:spPr>
          <a:xfrm>
            <a:off x="1467796" y="820150"/>
            <a:ext cx="6704100" cy="3410400"/>
          </a:xfrm>
          <a:prstGeom prst="rect">
            <a:avLst/>
          </a:prstGeom>
          <a:noFill/>
          <a:ln>
            <a:noFill/>
          </a:ln>
        </p:spPr>
        <p:txBody>
          <a:bodyPr anchorCtr="0" anchor="t" bIns="0" lIns="0" spcFirstLastPara="1" rIns="0" wrap="square" tIns="0">
            <a:spAutoFit/>
          </a:bodyPr>
          <a:lstStyle/>
          <a:p>
            <a:pPr indent="0" lvl="0" marL="0" marR="0" rtl="0" algn="l">
              <a:lnSpc>
                <a:spcPct val="104996"/>
              </a:lnSpc>
              <a:spcBef>
                <a:spcPts val="0"/>
              </a:spcBef>
              <a:spcAft>
                <a:spcPts val="0"/>
              </a:spcAft>
              <a:buNone/>
            </a:pPr>
            <a:r>
              <a:rPr b="1" i="0" lang="en-US" sz="10808" u="none" cap="none" strike="noStrike">
                <a:solidFill>
                  <a:srgbClr val="F2F4F5"/>
                </a:solidFill>
                <a:latin typeface="Oswald"/>
                <a:ea typeface="Oswald"/>
                <a:cs typeface="Oswald"/>
                <a:sym typeface="Oswald"/>
              </a:rPr>
              <a:t>Objetivo </a:t>
            </a:r>
            <a:endParaRPr/>
          </a:p>
          <a:p>
            <a:pPr indent="0" lvl="0" marL="0" marR="0" rtl="0" algn="l">
              <a:lnSpc>
                <a:spcPct val="104996"/>
              </a:lnSpc>
              <a:spcBef>
                <a:spcPts val="0"/>
              </a:spcBef>
              <a:spcAft>
                <a:spcPts val="0"/>
              </a:spcAft>
              <a:buNone/>
            </a:pPr>
            <a:r>
              <a:rPr b="1" i="0" lang="en-US" sz="10808" u="none" cap="none" strike="noStrike">
                <a:solidFill>
                  <a:srgbClr val="F2F4F5"/>
                </a:solidFill>
                <a:latin typeface="Oswald"/>
                <a:ea typeface="Oswald"/>
                <a:cs typeface="Oswald"/>
                <a:sym typeface="Oswald"/>
              </a:rPr>
              <a:t>General</a:t>
            </a:r>
            <a:endParaRPr/>
          </a:p>
        </p:txBody>
      </p:sp>
      <p:sp>
        <p:nvSpPr>
          <p:cNvPr id="137" name="Google Shape;137;p4"/>
          <p:cNvSpPr txBox="1"/>
          <p:nvPr/>
        </p:nvSpPr>
        <p:spPr>
          <a:xfrm>
            <a:off x="1467796" y="4095208"/>
            <a:ext cx="7968323" cy="5163092"/>
          </a:xfrm>
          <a:prstGeom prst="rect">
            <a:avLst/>
          </a:prstGeom>
          <a:noFill/>
          <a:ln>
            <a:noFill/>
          </a:ln>
        </p:spPr>
        <p:txBody>
          <a:bodyPr anchorCtr="0" anchor="t" bIns="0" lIns="0" spcFirstLastPara="1" rIns="0" wrap="square" tIns="0">
            <a:spAutoFit/>
          </a:bodyPr>
          <a:lstStyle/>
          <a:p>
            <a:pPr indent="0" lvl="0" marL="0" marR="0" rtl="0" algn="l">
              <a:lnSpc>
                <a:spcPct val="138001"/>
              </a:lnSpc>
              <a:spcBef>
                <a:spcPts val="0"/>
              </a:spcBef>
              <a:spcAft>
                <a:spcPts val="0"/>
              </a:spcAft>
              <a:buNone/>
            </a:pPr>
            <a:r>
              <a:rPr b="0" i="0" lang="en-US" sz="3042" u="none" cap="none" strike="noStrike">
                <a:solidFill>
                  <a:srgbClr val="F2F4F5"/>
                </a:solidFill>
                <a:latin typeface="DM Sans"/>
                <a:ea typeface="DM Sans"/>
                <a:cs typeface="DM Sans"/>
                <a:sym typeface="DM Sans"/>
              </a:rPr>
              <a:t>Desarrollar e implementar en un periodo de 12 meses un sistema de información que permita registrar y gestionar digitalmente la información de los empleados y sus actividades laborales en el taller de confección, con el fin de reducir las confusiones en la asignación y ejecución del trabajo y optimizar el uso del tiempo y los recursos.</a:t>
            </a:r>
            <a:endParaRPr/>
          </a:p>
        </p:txBody>
      </p:sp>
      <p:sp>
        <p:nvSpPr>
          <p:cNvPr id="138" name="Google Shape;138;p4"/>
          <p:cNvSpPr txBox="1"/>
          <p:nvPr/>
        </p:nvSpPr>
        <p:spPr>
          <a:xfrm>
            <a:off x="11151278" y="7754001"/>
            <a:ext cx="7968323" cy="501949"/>
          </a:xfrm>
          <a:prstGeom prst="rect">
            <a:avLst/>
          </a:prstGeom>
          <a:noFill/>
          <a:ln>
            <a:noFill/>
          </a:ln>
        </p:spPr>
        <p:txBody>
          <a:bodyPr anchorCtr="0" anchor="t" bIns="0" lIns="0" spcFirstLastPara="1" rIns="0" wrap="square" tIns="0">
            <a:spAutoFit/>
          </a:bodyPr>
          <a:lstStyle/>
          <a:p>
            <a:pPr indent="0" lvl="0" marL="0" marR="0" rtl="0" algn="l">
              <a:lnSpc>
                <a:spcPct val="138001"/>
              </a:lnSpc>
              <a:spcBef>
                <a:spcPts val="0"/>
              </a:spcBef>
              <a:spcAft>
                <a:spcPts val="0"/>
              </a:spcAft>
              <a:buNone/>
            </a:pPr>
            <a:r>
              <a:rPr b="1" i="0" lang="en-US" sz="3042" u="sng" cap="none" strike="noStrike">
                <a:solidFill>
                  <a:srgbClr val="F2F4F5"/>
                </a:solidFill>
                <a:latin typeface="DM Sans"/>
                <a:ea typeface="DM Sans"/>
                <a:cs typeface="DM Sans"/>
                <a:sym typeface="DM Sans"/>
                <a:hlinkClick r:id="rId5">
                  <a:extLst>
                    <a:ext uri="{A12FA001-AC4F-418D-AE19-62706E023703}">
                      <ahyp:hlinkClr val="tx"/>
                    </a:ext>
                  </a:extLst>
                </a:hlinkClick>
              </a:rPr>
              <a:t>Figura 1</a:t>
            </a:r>
            <a:r>
              <a:rPr b="1" i="1" lang="en-US" sz="3042" u="sng" cap="none" strike="noStrike">
                <a:solidFill>
                  <a:srgbClr val="F2F4F5"/>
                </a:solidFill>
                <a:latin typeface="DM Sans"/>
                <a:ea typeface="DM Sans"/>
                <a:cs typeface="DM Sans"/>
                <a:sym typeface="DM Sans"/>
                <a:hlinkClick r:id="rId6">
                  <a:extLst>
                    <a:ext uri="{A12FA001-AC4F-418D-AE19-62706E023703}">
                      <ahyp:hlinkClr val="tx"/>
                    </a:ext>
                  </a:extLst>
                </a:hlinkClick>
              </a:rPr>
              <a:t>.</a:t>
            </a:r>
            <a:r>
              <a:rPr b="0" i="1" lang="en-US" sz="3042" u="sng" cap="none" strike="noStrike">
                <a:solidFill>
                  <a:srgbClr val="F2F4F5"/>
                </a:solidFill>
                <a:latin typeface="Sansita"/>
                <a:ea typeface="Sansita"/>
                <a:cs typeface="Sansita"/>
                <a:sym typeface="Sansita"/>
                <a:hlinkClick r:id="rId7">
                  <a:extLst>
                    <a:ext uri="{A12FA001-AC4F-418D-AE19-62706E023703}">
                      <ahyp:hlinkClr val="tx"/>
                    </a:ext>
                  </a:extLst>
                </a:hlinkClick>
              </a:rPr>
              <a:t> Rendimiento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42" name="Shape 142"/>
        <p:cNvGrpSpPr/>
        <p:nvPr/>
      </p:nvGrpSpPr>
      <p:grpSpPr>
        <a:xfrm>
          <a:off x="0" y="0"/>
          <a:ext cx="0" cy="0"/>
          <a:chOff x="0" y="0"/>
          <a:chExt cx="0" cy="0"/>
        </a:xfrm>
      </p:grpSpPr>
      <p:sp>
        <p:nvSpPr>
          <p:cNvPr id="143" name="Google Shape;143;p5"/>
          <p:cNvSpPr/>
          <p:nvPr/>
        </p:nvSpPr>
        <p:spPr>
          <a:xfrm>
            <a:off x="13451022" y="-4729397"/>
            <a:ext cx="7616557" cy="7815497"/>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144" name="Google Shape;144;p5"/>
          <p:cNvSpPr/>
          <p:nvPr/>
        </p:nvSpPr>
        <p:spPr>
          <a:xfrm>
            <a:off x="-2851369" y="-3442596"/>
            <a:ext cx="6709932" cy="6885191"/>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grpSp>
        <p:nvGrpSpPr>
          <p:cNvPr id="145" name="Google Shape;145;p5"/>
          <p:cNvGrpSpPr/>
          <p:nvPr/>
        </p:nvGrpSpPr>
        <p:grpSpPr>
          <a:xfrm>
            <a:off x="6436717" y="1850210"/>
            <a:ext cx="11331284" cy="3645741"/>
            <a:chOff x="0" y="-19050"/>
            <a:chExt cx="1744696" cy="561340"/>
          </a:xfrm>
        </p:grpSpPr>
        <p:sp>
          <p:nvSpPr>
            <p:cNvPr id="146" name="Google Shape;146;p5"/>
            <p:cNvSpPr/>
            <p:nvPr/>
          </p:nvSpPr>
          <p:spPr>
            <a:xfrm>
              <a:off x="0" y="0"/>
              <a:ext cx="1744696" cy="542290"/>
            </a:xfrm>
            <a:custGeom>
              <a:rect b="b" l="l" r="r" t="t"/>
              <a:pathLst>
                <a:path extrusionOk="0" h="542290" w="1744696">
                  <a:moveTo>
                    <a:pt x="0" y="0"/>
                  </a:moveTo>
                  <a:lnTo>
                    <a:pt x="1744696" y="0"/>
                  </a:lnTo>
                  <a:lnTo>
                    <a:pt x="1744696" y="542290"/>
                  </a:lnTo>
                  <a:lnTo>
                    <a:pt x="0" y="542290"/>
                  </a:lnTo>
                  <a:close/>
                </a:path>
              </a:pathLst>
            </a:custGeom>
            <a:noFill/>
            <a:ln cap="sq" cmpd="sng" w="38100">
              <a:solidFill>
                <a:srgbClr val="FDFBFB"/>
              </a:solidFill>
              <a:prstDash val="solid"/>
              <a:miter lim="8000"/>
              <a:headEnd len="sm" w="sm" type="none"/>
              <a:tailEnd len="sm" w="sm" type="none"/>
            </a:ln>
          </p:spPr>
        </p:sp>
        <p:sp>
          <p:nvSpPr>
            <p:cNvPr id="147" name="Google Shape;147;p5"/>
            <p:cNvSpPr txBox="1"/>
            <p:nvPr/>
          </p:nvSpPr>
          <p:spPr>
            <a:xfrm>
              <a:off x="0" y="-19050"/>
              <a:ext cx="1744696" cy="56134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8" name="Google Shape;148;p5"/>
          <p:cNvGrpSpPr/>
          <p:nvPr/>
        </p:nvGrpSpPr>
        <p:grpSpPr>
          <a:xfrm>
            <a:off x="523874" y="5690259"/>
            <a:ext cx="11331284" cy="3645741"/>
            <a:chOff x="0" y="-19050"/>
            <a:chExt cx="1744696" cy="561340"/>
          </a:xfrm>
        </p:grpSpPr>
        <p:sp>
          <p:nvSpPr>
            <p:cNvPr id="149" name="Google Shape;149;p5"/>
            <p:cNvSpPr/>
            <p:nvPr/>
          </p:nvSpPr>
          <p:spPr>
            <a:xfrm>
              <a:off x="0" y="0"/>
              <a:ext cx="1744696" cy="542290"/>
            </a:xfrm>
            <a:custGeom>
              <a:rect b="b" l="l" r="r" t="t"/>
              <a:pathLst>
                <a:path extrusionOk="0" h="542290" w="1744696">
                  <a:moveTo>
                    <a:pt x="0" y="0"/>
                  </a:moveTo>
                  <a:lnTo>
                    <a:pt x="1744696" y="0"/>
                  </a:lnTo>
                  <a:lnTo>
                    <a:pt x="1744696" y="542290"/>
                  </a:lnTo>
                  <a:lnTo>
                    <a:pt x="0" y="542290"/>
                  </a:lnTo>
                  <a:close/>
                </a:path>
              </a:pathLst>
            </a:custGeom>
            <a:noFill/>
            <a:ln cap="sq" cmpd="sng" w="38100">
              <a:solidFill>
                <a:srgbClr val="FDFBFB"/>
              </a:solidFill>
              <a:prstDash val="solid"/>
              <a:miter lim="8000"/>
              <a:headEnd len="sm" w="sm" type="none"/>
              <a:tailEnd len="sm" w="sm" type="none"/>
            </a:ln>
          </p:spPr>
        </p:sp>
        <p:sp>
          <p:nvSpPr>
            <p:cNvPr id="150" name="Google Shape;150;p5"/>
            <p:cNvSpPr txBox="1"/>
            <p:nvPr/>
          </p:nvSpPr>
          <p:spPr>
            <a:xfrm>
              <a:off x="0" y="-19050"/>
              <a:ext cx="1744696" cy="56134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1" name="Google Shape;151;p5"/>
          <p:cNvSpPr/>
          <p:nvPr/>
        </p:nvSpPr>
        <p:spPr>
          <a:xfrm>
            <a:off x="11615838" y="5713838"/>
            <a:ext cx="5912843" cy="3932977"/>
          </a:xfrm>
          <a:custGeom>
            <a:rect b="b" l="l" r="r" t="t"/>
            <a:pathLst>
              <a:path extrusionOk="0" h="3932977" w="5912843">
                <a:moveTo>
                  <a:pt x="0" y="0"/>
                </a:moveTo>
                <a:lnTo>
                  <a:pt x="5912843" y="0"/>
                </a:lnTo>
                <a:lnTo>
                  <a:pt x="5912843" y="3932977"/>
                </a:lnTo>
                <a:lnTo>
                  <a:pt x="0" y="3932977"/>
                </a:lnTo>
                <a:lnTo>
                  <a:pt x="0" y="0"/>
                </a:lnTo>
                <a:close/>
              </a:path>
            </a:pathLst>
          </a:custGeom>
          <a:blipFill rotWithShape="1">
            <a:blip r:embed="rId4">
              <a:alphaModFix/>
            </a:blip>
            <a:stretch>
              <a:fillRect b="0" l="0" r="0" t="0"/>
            </a:stretch>
          </a:blipFill>
          <a:ln>
            <a:noFill/>
          </a:ln>
        </p:spPr>
      </p:sp>
      <p:sp>
        <p:nvSpPr>
          <p:cNvPr id="152" name="Google Shape;152;p5"/>
          <p:cNvSpPr/>
          <p:nvPr/>
        </p:nvSpPr>
        <p:spPr>
          <a:xfrm>
            <a:off x="256917" y="1636998"/>
            <a:ext cx="6179800" cy="3249628"/>
          </a:xfrm>
          <a:custGeom>
            <a:rect b="b" l="l" r="r" t="t"/>
            <a:pathLst>
              <a:path extrusionOk="0" h="3249628" w="6179800">
                <a:moveTo>
                  <a:pt x="0" y="0"/>
                </a:moveTo>
                <a:lnTo>
                  <a:pt x="6179800" y="0"/>
                </a:lnTo>
                <a:lnTo>
                  <a:pt x="6179800" y="3249628"/>
                </a:lnTo>
                <a:lnTo>
                  <a:pt x="0" y="3249628"/>
                </a:lnTo>
                <a:lnTo>
                  <a:pt x="0" y="0"/>
                </a:lnTo>
                <a:close/>
              </a:path>
            </a:pathLst>
          </a:custGeom>
          <a:blipFill rotWithShape="1">
            <a:blip r:embed="rId5">
              <a:alphaModFix/>
            </a:blip>
            <a:stretch>
              <a:fillRect b="0" l="0" r="0" t="0"/>
            </a:stretch>
          </a:blipFill>
          <a:ln>
            <a:noFill/>
          </a:ln>
        </p:spPr>
      </p:sp>
      <p:sp>
        <p:nvSpPr>
          <p:cNvPr id="153" name="Google Shape;153;p5"/>
          <p:cNvSpPr txBox="1"/>
          <p:nvPr/>
        </p:nvSpPr>
        <p:spPr>
          <a:xfrm>
            <a:off x="4001874" y="287052"/>
            <a:ext cx="10906040" cy="1349947"/>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None/>
            </a:pPr>
            <a:r>
              <a:rPr b="1" i="0" lang="en-US" sz="8030" u="none" cap="none" strike="noStrike">
                <a:solidFill>
                  <a:srgbClr val="FFFFFF"/>
                </a:solidFill>
                <a:latin typeface="Oswald"/>
                <a:ea typeface="Oswald"/>
                <a:cs typeface="Oswald"/>
                <a:sym typeface="Oswald"/>
              </a:rPr>
              <a:t>Objetivos especificos</a:t>
            </a:r>
            <a:endParaRPr/>
          </a:p>
        </p:txBody>
      </p:sp>
      <p:sp>
        <p:nvSpPr>
          <p:cNvPr id="154" name="Google Shape;154;p5"/>
          <p:cNvSpPr txBox="1"/>
          <p:nvPr/>
        </p:nvSpPr>
        <p:spPr>
          <a:xfrm>
            <a:off x="6852108" y="2296326"/>
            <a:ext cx="11163094" cy="3417512"/>
          </a:xfrm>
          <a:prstGeom prst="rect">
            <a:avLst/>
          </a:prstGeom>
          <a:noFill/>
          <a:ln>
            <a:noFill/>
          </a:ln>
        </p:spPr>
        <p:txBody>
          <a:bodyPr anchorCtr="0" anchor="t" bIns="0" lIns="0" spcFirstLastPara="1" rIns="0" wrap="square" tIns="0">
            <a:spAutoFit/>
          </a:bodyPr>
          <a:lstStyle/>
          <a:p>
            <a:pPr indent="-268260" lvl="1" marL="536521" marR="0" rtl="0" algn="l">
              <a:lnSpc>
                <a:spcPct val="137987"/>
              </a:lnSpc>
              <a:spcBef>
                <a:spcPts val="0"/>
              </a:spcBef>
              <a:spcAft>
                <a:spcPts val="0"/>
              </a:spcAft>
              <a:buClr>
                <a:srgbClr val="F2F4F5"/>
              </a:buClr>
              <a:buSzPts val="2485"/>
              <a:buFont typeface="Arial"/>
              <a:buChar char="•"/>
            </a:pPr>
            <a:r>
              <a:rPr b="0" i="0" lang="en-US" sz="2485" u="none" cap="none" strike="noStrike">
                <a:solidFill>
                  <a:srgbClr val="F2F4F5"/>
                </a:solidFill>
                <a:latin typeface="DM Sans"/>
                <a:ea typeface="DM Sans"/>
                <a:cs typeface="DM Sans"/>
                <a:sym typeface="DM Sans"/>
              </a:rPr>
              <a:t>Implementar un módulo de control de asistencia que permita registrar las entradas y salidas de los empleados de manera digital.</a:t>
            </a:r>
            <a:endParaRPr/>
          </a:p>
          <a:p>
            <a:pPr indent="0" lvl="0" marL="0" marR="0" rtl="0" algn="l">
              <a:lnSpc>
                <a:spcPct val="137987"/>
              </a:lnSpc>
              <a:spcBef>
                <a:spcPts val="0"/>
              </a:spcBef>
              <a:spcAft>
                <a:spcPts val="0"/>
              </a:spcAft>
              <a:buNone/>
            </a:pPr>
            <a:r>
              <a:t/>
            </a:r>
            <a:endParaRPr b="0" i="0" sz="2485" u="none" cap="none" strike="noStrike">
              <a:solidFill>
                <a:srgbClr val="F2F4F5"/>
              </a:solidFill>
              <a:latin typeface="DM Sans"/>
              <a:ea typeface="DM Sans"/>
              <a:cs typeface="DM Sans"/>
              <a:sym typeface="DM Sans"/>
            </a:endParaRPr>
          </a:p>
          <a:p>
            <a:pPr indent="-268260" lvl="1" marL="536521" marR="0" rtl="0" algn="l">
              <a:lnSpc>
                <a:spcPct val="137987"/>
              </a:lnSpc>
              <a:spcBef>
                <a:spcPts val="0"/>
              </a:spcBef>
              <a:spcAft>
                <a:spcPts val="0"/>
              </a:spcAft>
              <a:buClr>
                <a:srgbClr val="F2F4F5"/>
              </a:buClr>
              <a:buSzPts val="2485"/>
              <a:buFont typeface="Arial"/>
              <a:buChar char="•"/>
            </a:pPr>
            <a:r>
              <a:rPr b="0" i="0" lang="en-US" sz="2485" u="none" cap="none" strike="noStrike">
                <a:solidFill>
                  <a:srgbClr val="F2F4F5"/>
                </a:solidFill>
                <a:latin typeface="DM Sans"/>
                <a:ea typeface="DM Sans"/>
                <a:cs typeface="DM Sans"/>
                <a:sym typeface="DM Sans"/>
              </a:rPr>
              <a:t>Desarrollar un módulo de gestión de horarios que facilite la asignación y organización de la jornada laboral de los empleados.</a:t>
            </a:r>
            <a:endParaRPr/>
          </a:p>
          <a:p>
            <a:pPr indent="0" lvl="0" marL="0" marR="0" rtl="0" algn="l">
              <a:lnSpc>
                <a:spcPct val="137987"/>
              </a:lnSpc>
              <a:spcBef>
                <a:spcPts val="0"/>
              </a:spcBef>
              <a:spcAft>
                <a:spcPts val="0"/>
              </a:spcAft>
              <a:buNone/>
            </a:pPr>
            <a:r>
              <a:t/>
            </a:r>
            <a:endParaRPr b="0" i="0" sz="2485" u="none" cap="none" strike="noStrike">
              <a:solidFill>
                <a:srgbClr val="F2F4F5"/>
              </a:solidFill>
              <a:latin typeface="DM Sans"/>
              <a:ea typeface="DM Sans"/>
              <a:cs typeface="DM Sans"/>
              <a:sym typeface="DM Sans"/>
            </a:endParaRPr>
          </a:p>
        </p:txBody>
      </p:sp>
      <p:sp>
        <p:nvSpPr>
          <p:cNvPr id="155" name="Google Shape;155;p5"/>
          <p:cNvSpPr txBox="1"/>
          <p:nvPr/>
        </p:nvSpPr>
        <p:spPr>
          <a:xfrm>
            <a:off x="939265" y="6136375"/>
            <a:ext cx="10676573" cy="3417512"/>
          </a:xfrm>
          <a:prstGeom prst="rect">
            <a:avLst/>
          </a:prstGeom>
          <a:noFill/>
          <a:ln>
            <a:noFill/>
          </a:ln>
        </p:spPr>
        <p:txBody>
          <a:bodyPr anchorCtr="0" anchor="t" bIns="0" lIns="0" spcFirstLastPara="1" rIns="0" wrap="square" tIns="0">
            <a:spAutoFit/>
          </a:bodyPr>
          <a:lstStyle/>
          <a:p>
            <a:pPr indent="-268260" lvl="1" marL="536521" marR="0" rtl="0" algn="l">
              <a:lnSpc>
                <a:spcPct val="137987"/>
              </a:lnSpc>
              <a:spcBef>
                <a:spcPts val="0"/>
              </a:spcBef>
              <a:spcAft>
                <a:spcPts val="0"/>
              </a:spcAft>
              <a:buClr>
                <a:srgbClr val="F2F4F5"/>
              </a:buClr>
              <a:buSzPts val="2485"/>
              <a:buFont typeface="Arial"/>
              <a:buChar char="•"/>
            </a:pPr>
            <a:r>
              <a:rPr b="0" i="0" lang="en-US" sz="2485" u="none" cap="none" strike="noStrike">
                <a:solidFill>
                  <a:srgbClr val="F2F4F5"/>
                </a:solidFill>
                <a:latin typeface="DM Sans"/>
                <a:ea typeface="DM Sans"/>
                <a:cs typeface="DM Sans"/>
                <a:sym typeface="DM Sans"/>
              </a:rPr>
              <a:t>Diseñar un módulo de gestión de tareas que permita asignar y controlar las actividades laborales de cada operario.</a:t>
            </a:r>
            <a:endParaRPr/>
          </a:p>
          <a:p>
            <a:pPr indent="0" lvl="0" marL="0" marR="0" rtl="0" algn="l">
              <a:lnSpc>
                <a:spcPct val="137987"/>
              </a:lnSpc>
              <a:spcBef>
                <a:spcPts val="0"/>
              </a:spcBef>
              <a:spcAft>
                <a:spcPts val="0"/>
              </a:spcAft>
              <a:buNone/>
            </a:pPr>
            <a:r>
              <a:t/>
            </a:r>
            <a:endParaRPr b="0" i="0" sz="2485" u="none" cap="none" strike="noStrike">
              <a:solidFill>
                <a:srgbClr val="F2F4F5"/>
              </a:solidFill>
              <a:latin typeface="DM Sans"/>
              <a:ea typeface="DM Sans"/>
              <a:cs typeface="DM Sans"/>
              <a:sym typeface="DM Sans"/>
            </a:endParaRPr>
          </a:p>
          <a:p>
            <a:pPr indent="-268260" lvl="1" marL="536521" marR="0" rtl="0" algn="l">
              <a:lnSpc>
                <a:spcPct val="137987"/>
              </a:lnSpc>
              <a:spcBef>
                <a:spcPts val="0"/>
              </a:spcBef>
              <a:spcAft>
                <a:spcPts val="0"/>
              </a:spcAft>
              <a:buClr>
                <a:srgbClr val="F2F4F5"/>
              </a:buClr>
              <a:buSzPts val="2485"/>
              <a:buFont typeface="Arial"/>
              <a:buChar char="•"/>
            </a:pPr>
            <a:r>
              <a:rPr b="0" i="0" lang="en-US" sz="2485" u="none" cap="none" strike="noStrike">
                <a:solidFill>
                  <a:srgbClr val="F2F4F5"/>
                </a:solidFill>
                <a:latin typeface="DM Sans"/>
                <a:ea typeface="DM Sans"/>
                <a:cs typeface="DM Sans"/>
                <a:sym typeface="DM Sans"/>
              </a:rPr>
              <a:t>Crear un módulo de registro de producción que permita almacenar y consultar los resultados del trabajo realizado por cada empleado.</a:t>
            </a:r>
            <a:endParaRPr/>
          </a:p>
          <a:p>
            <a:pPr indent="0" lvl="0" marL="0" marR="0" rtl="0" algn="l">
              <a:lnSpc>
                <a:spcPct val="137987"/>
              </a:lnSpc>
              <a:spcBef>
                <a:spcPts val="0"/>
              </a:spcBef>
              <a:spcAft>
                <a:spcPts val="0"/>
              </a:spcAft>
              <a:buNone/>
            </a:pPr>
            <a:r>
              <a:t/>
            </a:r>
            <a:endParaRPr b="0" i="0" sz="2485" u="none" cap="none" strike="noStrike">
              <a:solidFill>
                <a:srgbClr val="F2F4F5"/>
              </a:solidFill>
              <a:latin typeface="DM Sans"/>
              <a:ea typeface="DM Sans"/>
              <a:cs typeface="DM Sans"/>
              <a:sym typeface="DM Sans"/>
            </a:endParaRPr>
          </a:p>
        </p:txBody>
      </p:sp>
      <p:sp>
        <p:nvSpPr>
          <p:cNvPr id="156" name="Google Shape;156;p5"/>
          <p:cNvSpPr txBox="1"/>
          <p:nvPr/>
        </p:nvSpPr>
        <p:spPr>
          <a:xfrm>
            <a:off x="12433655" y="9220200"/>
            <a:ext cx="6997854" cy="437092"/>
          </a:xfrm>
          <a:prstGeom prst="rect">
            <a:avLst/>
          </a:prstGeom>
          <a:noFill/>
          <a:ln>
            <a:noFill/>
          </a:ln>
        </p:spPr>
        <p:txBody>
          <a:bodyPr anchorCtr="0" anchor="t" bIns="0" lIns="0" spcFirstLastPara="1" rIns="0" wrap="square" tIns="0">
            <a:spAutoFit/>
          </a:bodyPr>
          <a:lstStyle/>
          <a:p>
            <a:pPr indent="0" lvl="0" marL="0" marR="0" rtl="0" algn="l">
              <a:lnSpc>
                <a:spcPct val="138038"/>
              </a:lnSpc>
              <a:spcBef>
                <a:spcPts val="0"/>
              </a:spcBef>
              <a:spcAft>
                <a:spcPts val="0"/>
              </a:spcAft>
              <a:buNone/>
            </a:pPr>
            <a:r>
              <a:rPr b="1" i="0" lang="en-US" sz="2671" u="sng" cap="none" strike="noStrike">
                <a:solidFill>
                  <a:srgbClr val="F2F4F5"/>
                </a:solidFill>
                <a:latin typeface="DM Sans"/>
                <a:ea typeface="DM Sans"/>
                <a:cs typeface="DM Sans"/>
                <a:sym typeface="DM Sans"/>
                <a:hlinkClick r:id="rId6">
                  <a:extLst>
                    <a:ext uri="{A12FA001-AC4F-418D-AE19-62706E023703}">
                      <ahyp:hlinkClr val="tx"/>
                    </a:ext>
                  </a:extLst>
                </a:hlinkClick>
              </a:rPr>
              <a:t>Figura 2.</a:t>
            </a:r>
            <a:r>
              <a:rPr b="0" i="0" lang="en-US" sz="2671" u="sng" cap="none" strike="noStrike">
                <a:solidFill>
                  <a:srgbClr val="F2F4F5"/>
                </a:solidFill>
                <a:latin typeface="DM Sans"/>
                <a:ea typeface="DM Sans"/>
                <a:cs typeface="DM Sans"/>
                <a:sym typeface="DM Sans"/>
                <a:hlinkClick r:id="rId7">
                  <a:extLst>
                    <a:ext uri="{A12FA001-AC4F-418D-AE19-62706E023703}">
                      <ahyp:hlinkClr val="tx"/>
                    </a:ext>
                  </a:extLst>
                </a:hlinkClick>
              </a:rPr>
              <a:t> </a:t>
            </a:r>
            <a:r>
              <a:rPr b="0" i="1" lang="en-US" sz="2671" u="sng" cap="none" strike="noStrike">
                <a:solidFill>
                  <a:srgbClr val="F2F4F5"/>
                </a:solidFill>
                <a:latin typeface="Sansita"/>
                <a:ea typeface="Sansita"/>
                <a:cs typeface="Sansita"/>
                <a:sym typeface="Sansita"/>
                <a:hlinkClick r:id="rId8">
                  <a:extLst>
                    <a:ext uri="{A12FA001-AC4F-418D-AE19-62706E023703}">
                      <ahyp:hlinkClr val="tx"/>
                    </a:ext>
                  </a:extLst>
                </a:hlinkClick>
              </a:rPr>
              <a:t>Objetivos</a:t>
            </a:r>
            <a:endParaRPr/>
          </a:p>
        </p:txBody>
      </p:sp>
      <p:sp>
        <p:nvSpPr>
          <p:cNvPr id="157" name="Google Shape;157;p5"/>
          <p:cNvSpPr txBox="1"/>
          <p:nvPr/>
        </p:nvSpPr>
        <p:spPr>
          <a:xfrm>
            <a:off x="1436444" y="5058859"/>
            <a:ext cx="6997854" cy="443745"/>
          </a:xfrm>
          <a:prstGeom prst="rect">
            <a:avLst/>
          </a:prstGeom>
          <a:noFill/>
          <a:ln>
            <a:noFill/>
          </a:ln>
        </p:spPr>
        <p:txBody>
          <a:bodyPr anchorCtr="0" anchor="t" bIns="0" lIns="0" spcFirstLastPara="1" rIns="0" wrap="square" tIns="0">
            <a:spAutoFit/>
          </a:bodyPr>
          <a:lstStyle/>
          <a:p>
            <a:pPr indent="0" lvl="0" marL="0" marR="0" rtl="0" algn="l">
              <a:lnSpc>
                <a:spcPct val="138038"/>
              </a:lnSpc>
              <a:spcBef>
                <a:spcPts val="0"/>
              </a:spcBef>
              <a:spcAft>
                <a:spcPts val="0"/>
              </a:spcAft>
              <a:buNone/>
            </a:pPr>
            <a:r>
              <a:rPr b="1" i="0" lang="en-US" sz="2671" u="sng" cap="none" strike="noStrike">
                <a:solidFill>
                  <a:srgbClr val="F2F4F5"/>
                </a:solidFill>
                <a:latin typeface="DM Sans"/>
                <a:ea typeface="DM Sans"/>
                <a:cs typeface="DM Sans"/>
                <a:sym typeface="DM Sans"/>
                <a:hlinkClick r:id="rId9">
                  <a:extLst>
                    <a:ext uri="{A12FA001-AC4F-418D-AE19-62706E023703}">
                      <ahyp:hlinkClr val="tx"/>
                    </a:ext>
                  </a:extLst>
                </a:hlinkClick>
              </a:rPr>
              <a:t>Figura 3.</a:t>
            </a:r>
            <a:r>
              <a:rPr b="0" i="0" lang="en-US" sz="2671" u="sng" cap="none" strike="noStrike">
                <a:solidFill>
                  <a:srgbClr val="F2F4F5"/>
                </a:solidFill>
                <a:latin typeface="DM Sans"/>
                <a:ea typeface="DM Sans"/>
                <a:cs typeface="DM Sans"/>
                <a:sym typeface="DM Sans"/>
                <a:hlinkClick r:id="rId10">
                  <a:extLst>
                    <a:ext uri="{A12FA001-AC4F-418D-AE19-62706E023703}">
                      <ahyp:hlinkClr val="tx"/>
                    </a:ext>
                  </a:extLst>
                </a:hlinkClick>
              </a:rPr>
              <a:t> </a:t>
            </a:r>
            <a:r>
              <a:rPr b="0" i="1" lang="en-US" sz="2671" u="sng" cap="none" strike="noStrike">
                <a:solidFill>
                  <a:srgbClr val="F2F4F5"/>
                </a:solidFill>
                <a:latin typeface="Sansita"/>
                <a:ea typeface="Sansita"/>
                <a:cs typeface="Sansita"/>
                <a:sym typeface="Sansita"/>
                <a:hlinkClick r:id="rId11">
                  <a:extLst>
                    <a:ext uri="{A12FA001-AC4F-418D-AE19-62706E023703}">
                      <ahyp:hlinkClr val="tx"/>
                    </a:ext>
                  </a:extLst>
                </a:hlinkClick>
              </a:rPr>
              <a:t>Metas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61" name="Shape 161"/>
        <p:cNvGrpSpPr/>
        <p:nvPr/>
      </p:nvGrpSpPr>
      <p:grpSpPr>
        <a:xfrm>
          <a:off x="0" y="0"/>
          <a:ext cx="0" cy="0"/>
          <a:chOff x="0" y="0"/>
          <a:chExt cx="0" cy="0"/>
        </a:xfrm>
      </p:grpSpPr>
      <p:sp>
        <p:nvSpPr>
          <p:cNvPr id="162" name="Google Shape;162;p6"/>
          <p:cNvSpPr/>
          <p:nvPr/>
        </p:nvSpPr>
        <p:spPr>
          <a:xfrm>
            <a:off x="-6830224" y="-6459533"/>
            <a:ext cx="12110389" cy="12426705"/>
          </a:xfrm>
          <a:custGeom>
            <a:rect b="b" l="l" r="r" t="t"/>
            <a:pathLst>
              <a:path extrusionOk="0" h="12426705" w="12110389">
                <a:moveTo>
                  <a:pt x="0" y="0"/>
                </a:moveTo>
                <a:lnTo>
                  <a:pt x="12110389" y="0"/>
                </a:lnTo>
                <a:lnTo>
                  <a:pt x="12110389" y="12426705"/>
                </a:lnTo>
                <a:lnTo>
                  <a:pt x="0" y="12426705"/>
                </a:lnTo>
                <a:lnTo>
                  <a:pt x="0" y="0"/>
                </a:lnTo>
                <a:close/>
              </a:path>
            </a:pathLst>
          </a:custGeom>
          <a:blipFill rotWithShape="1">
            <a:blip r:embed="rId3">
              <a:alphaModFix/>
            </a:blip>
            <a:stretch>
              <a:fillRect b="0" l="0" r="0" t="0"/>
            </a:stretch>
          </a:blipFill>
          <a:ln>
            <a:noFill/>
          </a:ln>
        </p:spPr>
      </p:sp>
      <p:sp>
        <p:nvSpPr>
          <p:cNvPr id="163" name="Google Shape;163;p6"/>
          <p:cNvSpPr/>
          <p:nvPr/>
        </p:nvSpPr>
        <p:spPr>
          <a:xfrm rot="-3986589">
            <a:off x="14535176" y="-3994863"/>
            <a:ext cx="9894000" cy="10152425"/>
          </a:xfrm>
          <a:custGeom>
            <a:rect b="b" l="l" r="r" t="t"/>
            <a:pathLst>
              <a:path extrusionOk="0" h="10152425" w="9894000">
                <a:moveTo>
                  <a:pt x="0" y="0"/>
                </a:moveTo>
                <a:lnTo>
                  <a:pt x="9894000" y="0"/>
                </a:lnTo>
                <a:lnTo>
                  <a:pt x="9894000" y="10152426"/>
                </a:lnTo>
                <a:lnTo>
                  <a:pt x="0" y="10152426"/>
                </a:lnTo>
                <a:lnTo>
                  <a:pt x="0" y="0"/>
                </a:lnTo>
                <a:close/>
              </a:path>
            </a:pathLst>
          </a:custGeom>
          <a:blipFill rotWithShape="1">
            <a:blip r:embed="rId3">
              <a:alphaModFix/>
            </a:blip>
            <a:stretch>
              <a:fillRect b="0" l="0" r="0" t="0"/>
            </a:stretch>
          </a:blipFill>
          <a:ln>
            <a:noFill/>
          </a:ln>
        </p:spPr>
      </p:sp>
      <p:sp>
        <p:nvSpPr>
          <p:cNvPr id="164" name="Google Shape;164;p6"/>
          <p:cNvSpPr/>
          <p:nvPr/>
        </p:nvSpPr>
        <p:spPr>
          <a:xfrm>
            <a:off x="8544596" y="2437388"/>
            <a:ext cx="9330016" cy="5207451"/>
          </a:xfrm>
          <a:custGeom>
            <a:rect b="b" l="l" r="r" t="t"/>
            <a:pathLst>
              <a:path extrusionOk="0" h="5207451" w="9330016">
                <a:moveTo>
                  <a:pt x="0" y="0"/>
                </a:moveTo>
                <a:lnTo>
                  <a:pt x="9330016" y="0"/>
                </a:lnTo>
                <a:lnTo>
                  <a:pt x="9330016" y="5207451"/>
                </a:lnTo>
                <a:lnTo>
                  <a:pt x="0" y="5207451"/>
                </a:lnTo>
                <a:lnTo>
                  <a:pt x="0" y="0"/>
                </a:lnTo>
                <a:close/>
              </a:path>
            </a:pathLst>
          </a:custGeom>
          <a:blipFill rotWithShape="1">
            <a:blip r:embed="rId4">
              <a:alphaModFix/>
            </a:blip>
            <a:stretch>
              <a:fillRect b="0" l="0" r="0" t="0"/>
            </a:stretch>
          </a:blipFill>
          <a:ln>
            <a:noFill/>
          </a:ln>
        </p:spPr>
      </p:sp>
      <p:sp>
        <p:nvSpPr>
          <p:cNvPr id="165" name="Google Shape;165;p6"/>
          <p:cNvSpPr txBox="1"/>
          <p:nvPr/>
        </p:nvSpPr>
        <p:spPr>
          <a:xfrm>
            <a:off x="1028700" y="1144233"/>
            <a:ext cx="7903326" cy="1385452"/>
          </a:xfrm>
          <a:prstGeom prst="rect">
            <a:avLst/>
          </a:prstGeom>
          <a:noFill/>
          <a:ln>
            <a:noFill/>
          </a:ln>
        </p:spPr>
        <p:txBody>
          <a:bodyPr anchorCtr="0" anchor="t" bIns="0" lIns="0" spcFirstLastPara="1" rIns="0" wrap="square" tIns="0">
            <a:spAutoFit/>
          </a:bodyPr>
          <a:lstStyle/>
          <a:p>
            <a:pPr indent="0" lvl="0" marL="0" marR="0" rtl="0" algn="l">
              <a:lnSpc>
                <a:spcPct val="138017"/>
              </a:lnSpc>
              <a:spcBef>
                <a:spcPts val="0"/>
              </a:spcBef>
              <a:spcAft>
                <a:spcPts val="0"/>
              </a:spcAft>
              <a:buNone/>
            </a:pPr>
            <a:r>
              <a:rPr b="1" i="0" lang="en-US" sz="8183" u="none" cap="none" strike="noStrike">
                <a:solidFill>
                  <a:srgbClr val="FFFFFF"/>
                </a:solidFill>
                <a:latin typeface="Oswald"/>
                <a:ea typeface="Oswald"/>
                <a:cs typeface="Oswald"/>
                <a:sym typeface="Oswald"/>
              </a:rPr>
              <a:t>Justificación</a:t>
            </a:r>
            <a:endParaRPr/>
          </a:p>
        </p:txBody>
      </p:sp>
      <p:sp>
        <p:nvSpPr>
          <p:cNvPr id="166" name="Google Shape;166;p6"/>
          <p:cNvSpPr txBox="1"/>
          <p:nvPr/>
        </p:nvSpPr>
        <p:spPr>
          <a:xfrm>
            <a:off x="193766" y="3351712"/>
            <a:ext cx="8063993" cy="6039380"/>
          </a:xfrm>
          <a:prstGeom prst="rect">
            <a:avLst/>
          </a:prstGeom>
          <a:noFill/>
          <a:ln>
            <a:noFill/>
          </a:ln>
        </p:spPr>
        <p:txBody>
          <a:bodyPr anchorCtr="0" anchor="t" bIns="0" lIns="0" spcFirstLastPara="1" rIns="0" wrap="square" tIns="0">
            <a:spAutoFit/>
          </a:bodyPr>
          <a:lstStyle/>
          <a:p>
            <a:pPr indent="-312349" lvl="1" marL="624699" marR="0" rtl="0" algn="l">
              <a:lnSpc>
                <a:spcPct val="137988"/>
              </a:lnSpc>
              <a:spcBef>
                <a:spcPts val="0"/>
              </a:spcBef>
              <a:spcAft>
                <a:spcPts val="0"/>
              </a:spcAft>
              <a:buClr>
                <a:srgbClr val="F5FFF5"/>
              </a:buClr>
              <a:buSzPts val="2893"/>
              <a:buFont typeface="Arial"/>
              <a:buChar char="•"/>
            </a:pPr>
            <a:r>
              <a:rPr b="0" i="0" lang="en-US" sz="2893" u="none" cap="none" strike="noStrike">
                <a:solidFill>
                  <a:srgbClr val="F5FFF5"/>
                </a:solidFill>
                <a:latin typeface="DM Sans"/>
                <a:ea typeface="DM Sans"/>
                <a:cs typeface="DM Sans"/>
                <a:sym typeface="DM Sans"/>
              </a:rPr>
              <a:t>El desarrollo de este proyecto se realiza con el fin de implementar un sistema de información que permita mejorar la gestión de los empleados en el taller de confección Novaro's. Este sistema facilitará el registro, organización y control de la información relacionada con la asistencia, los horarios, las tareas asignadas y la producción de cada operario.</a:t>
            </a:r>
            <a:endParaRPr/>
          </a:p>
          <a:p>
            <a:pPr indent="0" lvl="0" marL="0" marR="0" rtl="0" algn="l">
              <a:lnSpc>
                <a:spcPct val="137988"/>
              </a:lnSpc>
              <a:spcBef>
                <a:spcPts val="0"/>
              </a:spcBef>
              <a:spcAft>
                <a:spcPts val="0"/>
              </a:spcAft>
              <a:buNone/>
            </a:pPr>
            <a:r>
              <a:t/>
            </a:r>
            <a:endParaRPr b="0" i="0" sz="2893" u="none" cap="none" strike="noStrike">
              <a:solidFill>
                <a:srgbClr val="F5FFF5"/>
              </a:solidFill>
              <a:latin typeface="DM Sans"/>
              <a:ea typeface="DM Sans"/>
              <a:cs typeface="DM Sans"/>
              <a:sym typeface="DM Sans"/>
            </a:endParaRPr>
          </a:p>
        </p:txBody>
      </p:sp>
      <p:sp>
        <p:nvSpPr>
          <p:cNvPr id="167" name="Google Shape;167;p6"/>
          <p:cNvSpPr txBox="1"/>
          <p:nvPr/>
        </p:nvSpPr>
        <p:spPr>
          <a:xfrm>
            <a:off x="12290879" y="8333817"/>
            <a:ext cx="7968323" cy="501949"/>
          </a:xfrm>
          <a:prstGeom prst="rect">
            <a:avLst/>
          </a:prstGeom>
          <a:noFill/>
          <a:ln>
            <a:noFill/>
          </a:ln>
        </p:spPr>
        <p:txBody>
          <a:bodyPr anchorCtr="0" anchor="t" bIns="0" lIns="0" spcFirstLastPara="1" rIns="0" wrap="square" tIns="0">
            <a:spAutoFit/>
          </a:bodyPr>
          <a:lstStyle/>
          <a:p>
            <a:pPr indent="0" lvl="0" marL="0" marR="0" rtl="0" algn="l">
              <a:lnSpc>
                <a:spcPct val="138001"/>
              </a:lnSpc>
              <a:spcBef>
                <a:spcPts val="0"/>
              </a:spcBef>
              <a:spcAft>
                <a:spcPts val="0"/>
              </a:spcAft>
              <a:buNone/>
            </a:pPr>
            <a:r>
              <a:rPr b="1" i="0" lang="en-US" sz="3042" u="sng" cap="none" strike="noStrike">
                <a:solidFill>
                  <a:srgbClr val="F2F4F5"/>
                </a:solidFill>
                <a:latin typeface="DM Sans"/>
                <a:ea typeface="DM Sans"/>
                <a:cs typeface="DM Sans"/>
                <a:sym typeface="DM Sans"/>
                <a:hlinkClick r:id="rId5">
                  <a:extLst>
                    <a:ext uri="{A12FA001-AC4F-418D-AE19-62706E023703}">
                      <ahyp:hlinkClr val="tx"/>
                    </a:ext>
                  </a:extLst>
                </a:hlinkClick>
              </a:rPr>
              <a:t>Figura 4.</a:t>
            </a:r>
            <a:r>
              <a:rPr b="0" i="0" lang="en-US" sz="3042" u="sng" cap="none" strike="noStrike">
                <a:solidFill>
                  <a:srgbClr val="F2F4F5"/>
                </a:solidFill>
                <a:latin typeface="DM Sans"/>
                <a:ea typeface="DM Sans"/>
                <a:cs typeface="DM Sans"/>
                <a:sym typeface="DM Sans"/>
                <a:hlinkClick r:id="rId6">
                  <a:extLst>
                    <a:ext uri="{A12FA001-AC4F-418D-AE19-62706E023703}">
                      <ahyp:hlinkClr val="tx"/>
                    </a:ext>
                  </a:extLst>
                </a:hlinkClick>
              </a:rPr>
              <a:t> </a:t>
            </a:r>
            <a:r>
              <a:rPr b="0" i="1" lang="en-US" sz="3042" u="sng" cap="none" strike="noStrike">
                <a:solidFill>
                  <a:srgbClr val="F2F4F5"/>
                </a:solidFill>
                <a:latin typeface="Sansita"/>
                <a:ea typeface="Sansita"/>
                <a:cs typeface="Sansita"/>
                <a:sym typeface="Sansita"/>
                <a:hlinkClick r:id="rId7">
                  <a:extLst>
                    <a:ext uri="{A12FA001-AC4F-418D-AE19-62706E023703}">
                      <ahyp:hlinkClr val="tx"/>
                    </a:ext>
                  </a:extLst>
                </a:hlinkClick>
              </a:rPr>
              <a:t>Mejorar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71" name="Shape 171"/>
        <p:cNvGrpSpPr/>
        <p:nvPr/>
      </p:nvGrpSpPr>
      <p:grpSpPr>
        <a:xfrm>
          <a:off x="0" y="0"/>
          <a:ext cx="0" cy="0"/>
          <a:chOff x="0" y="0"/>
          <a:chExt cx="0" cy="0"/>
        </a:xfrm>
      </p:grpSpPr>
      <p:sp>
        <p:nvSpPr>
          <p:cNvPr id="172" name="Google Shape;172;p7"/>
          <p:cNvSpPr/>
          <p:nvPr/>
        </p:nvSpPr>
        <p:spPr>
          <a:xfrm>
            <a:off x="13451022" y="-4729397"/>
            <a:ext cx="7616557" cy="7815497"/>
          </a:xfrm>
          <a:custGeom>
            <a:rect b="b" l="l" r="r" t="t"/>
            <a:pathLst>
              <a:path extrusionOk="0" h="7815497" w="7616557">
                <a:moveTo>
                  <a:pt x="0" y="0"/>
                </a:moveTo>
                <a:lnTo>
                  <a:pt x="7616556" y="0"/>
                </a:lnTo>
                <a:lnTo>
                  <a:pt x="7616556" y="7815497"/>
                </a:lnTo>
                <a:lnTo>
                  <a:pt x="0" y="7815497"/>
                </a:lnTo>
                <a:lnTo>
                  <a:pt x="0" y="0"/>
                </a:lnTo>
                <a:close/>
              </a:path>
            </a:pathLst>
          </a:custGeom>
          <a:blipFill rotWithShape="1">
            <a:blip r:embed="rId3">
              <a:alphaModFix/>
            </a:blip>
            <a:stretch>
              <a:fillRect b="0" l="0" r="0" t="0"/>
            </a:stretch>
          </a:blipFill>
          <a:ln>
            <a:noFill/>
          </a:ln>
        </p:spPr>
      </p:sp>
      <p:sp>
        <p:nvSpPr>
          <p:cNvPr id="173" name="Google Shape;173;p7"/>
          <p:cNvSpPr/>
          <p:nvPr/>
        </p:nvSpPr>
        <p:spPr>
          <a:xfrm>
            <a:off x="-2851369" y="-3442596"/>
            <a:ext cx="6709932" cy="6885191"/>
          </a:xfrm>
          <a:custGeom>
            <a:rect b="b" l="l" r="r" t="t"/>
            <a:pathLst>
              <a:path extrusionOk="0" h="6885191" w="6709932">
                <a:moveTo>
                  <a:pt x="0" y="0"/>
                </a:moveTo>
                <a:lnTo>
                  <a:pt x="6709932" y="0"/>
                </a:lnTo>
                <a:lnTo>
                  <a:pt x="6709932" y="6885192"/>
                </a:lnTo>
                <a:lnTo>
                  <a:pt x="0" y="6885192"/>
                </a:lnTo>
                <a:lnTo>
                  <a:pt x="0" y="0"/>
                </a:lnTo>
                <a:close/>
              </a:path>
            </a:pathLst>
          </a:custGeom>
          <a:blipFill rotWithShape="1">
            <a:blip r:embed="rId3">
              <a:alphaModFix/>
            </a:blip>
            <a:stretch>
              <a:fillRect b="0" l="0" r="0" t="0"/>
            </a:stretch>
          </a:blipFill>
          <a:ln>
            <a:noFill/>
          </a:ln>
        </p:spPr>
      </p:sp>
      <p:grpSp>
        <p:nvGrpSpPr>
          <p:cNvPr id="174" name="Google Shape;174;p7"/>
          <p:cNvGrpSpPr/>
          <p:nvPr/>
        </p:nvGrpSpPr>
        <p:grpSpPr>
          <a:xfrm>
            <a:off x="6436717" y="1850210"/>
            <a:ext cx="11331284" cy="3645741"/>
            <a:chOff x="0" y="-19050"/>
            <a:chExt cx="1744696" cy="561340"/>
          </a:xfrm>
        </p:grpSpPr>
        <p:sp>
          <p:nvSpPr>
            <p:cNvPr id="175" name="Google Shape;175;p7"/>
            <p:cNvSpPr/>
            <p:nvPr/>
          </p:nvSpPr>
          <p:spPr>
            <a:xfrm>
              <a:off x="0" y="0"/>
              <a:ext cx="1744696" cy="542290"/>
            </a:xfrm>
            <a:custGeom>
              <a:rect b="b" l="l" r="r" t="t"/>
              <a:pathLst>
                <a:path extrusionOk="0" h="542290" w="1744696">
                  <a:moveTo>
                    <a:pt x="0" y="0"/>
                  </a:moveTo>
                  <a:lnTo>
                    <a:pt x="1744696" y="0"/>
                  </a:lnTo>
                  <a:lnTo>
                    <a:pt x="1744696" y="542290"/>
                  </a:lnTo>
                  <a:lnTo>
                    <a:pt x="0" y="542290"/>
                  </a:lnTo>
                  <a:close/>
                </a:path>
              </a:pathLst>
            </a:custGeom>
            <a:noFill/>
            <a:ln cap="sq" cmpd="sng" w="38100">
              <a:solidFill>
                <a:srgbClr val="FDFBFB"/>
              </a:solidFill>
              <a:prstDash val="solid"/>
              <a:miter lim="8000"/>
              <a:headEnd len="sm" w="sm" type="none"/>
              <a:tailEnd len="sm" w="sm" type="none"/>
            </a:ln>
          </p:spPr>
        </p:sp>
        <p:sp>
          <p:nvSpPr>
            <p:cNvPr id="176" name="Google Shape;176;p7"/>
            <p:cNvSpPr txBox="1"/>
            <p:nvPr/>
          </p:nvSpPr>
          <p:spPr>
            <a:xfrm>
              <a:off x="0" y="-19050"/>
              <a:ext cx="1744696" cy="56134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7" name="Google Shape;177;p7"/>
          <p:cNvGrpSpPr/>
          <p:nvPr/>
        </p:nvGrpSpPr>
        <p:grpSpPr>
          <a:xfrm>
            <a:off x="523874" y="5690259"/>
            <a:ext cx="11331284" cy="3645741"/>
            <a:chOff x="0" y="-19050"/>
            <a:chExt cx="1744696" cy="561340"/>
          </a:xfrm>
        </p:grpSpPr>
        <p:sp>
          <p:nvSpPr>
            <p:cNvPr id="178" name="Google Shape;178;p7"/>
            <p:cNvSpPr/>
            <p:nvPr/>
          </p:nvSpPr>
          <p:spPr>
            <a:xfrm>
              <a:off x="0" y="0"/>
              <a:ext cx="1744696" cy="542290"/>
            </a:xfrm>
            <a:custGeom>
              <a:rect b="b" l="l" r="r" t="t"/>
              <a:pathLst>
                <a:path extrusionOk="0" h="542290" w="1744696">
                  <a:moveTo>
                    <a:pt x="0" y="0"/>
                  </a:moveTo>
                  <a:lnTo>
                    <a:pt x="1744696" y="0"/>
                  </a:lnTo>
                  <a:lnTo>
                    <a:pt x="1744696" y="542290"/>
                  </a:lnTo>
                  <a:lnTo>
                    <a:pt x="0" y="542290"/>
                  </a:lnTo>
                  <a:close/>
                </a:path>
              </a:pathLst>
            </a:custGeom>
            <a:noFill/>
            <a:ln cap="sq" cmpd="sng" w="38100">
              <a:solidFill>
                <a:srgbClr val="FDFBFB"/>
              </a:solidFill>
              <a:prstDash val="solid"/>
              <a:miter lim="8000"/>
              <a:headEnd len="sm" w="sm" type="none"/>
              <a:tailEnd len="sm" w="sm" type="none"/>
            </a:ln>
          </p:spPr>
        </p:sp>
        <p:sp>
          <p:nvSpPr>
            <p:cNvPr id="179" name="Google Shape;179;p7"/>
            <p:cNvSpPr txBox="1"/>
            <p:nvPr/>
          </p:nvSpPr>
          <p:spPr>
            <a:xfrm>
              <a:off x="0" y="-19050"/>
              <a:ext cx="1744696" cy="561340"/>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0" name="Google Shape;180;p7"/>
          <p:cNvSpPr/>
          <p:nvPr/>
        </p:nvSpPr>
        <p:spPr>
          <a:xfrm>
            <a:off x="1028700" y="1636998"/>
            <a:ext cx="4856644" cy="3220166"/>
          </a:xfrm>
          <a:custGeom>
            <a:rect b="b" l="l" r="r" t="t"/>
            <a:pathLst>
              <a:path extrusionOk="0" h="3220166" w="4856644">
                <a:moveTo>
                  <a:pt x="0" y="0"/>
                </a:moveTo>
                <a:lnTo>
                  <a:pt x="4856644" y="0"/>
                </a:lnTo>
                <a:lnTo>
                  <a:pt x="4856644" y="3220166"/>
                </a:lnTo>
                <a:lnTo>
                  <a:pt x="0" y="3220166"/>
                </a:lnTo>
                <a:lnTo>
                  <a:pt x="0" y="0"/>
                </a:lnTo>
                <a:close/>
              </a:path>
            </a:pathLst>
          </a:custGeom>
          <a:blipFill rotWithShape="1">
            <a:blip r:embed="rId4">
              <a:alphaModFix/>
            </a:blip>
            <a:stretch>
              <a:fillRect b="0" l="0" r="0" t="0"/>
            </a:stretch>
          </a:blipFill>
          <a:ln>
            <a:noFill/>
          </a:ln>
        </p:spPr>
      </p:sp>
      <p:sp>
        <p:nvSpPr>
          <p:cNvPr id="181" name="Google Shape;181;p7"/>
          <p:cNvSpPr/>
          <p:nvPr/>
        </p:nvSpPr>
        <p:spPr>
          <a:xfrm>
            <a:off x="11855158" y="5529495"/>
            <a:ext cx="5735652" cy="3806505"/>
          </a:xfrm>
          <a:custGeom>
            <a:rect b="b" l="l" r="r" t="t"/>
            <a:pathLst>
              <a:path extrusionOk="0" h="3806505" w="5735652">
                <a:moveTo>
                  <a:pt x="0" y="0"/>
                </a:moveTo>
                <a:lnTo>
                  <a:pt x="5735652" y="0"/>
                </a:lnTo>
                <a:lnTo>
                  <a:pt x="5735652" y="3806505"/>
                </a:lnTo>
                <a:lnTo>
                  <a:pt x="0" y="3806505"/>
                </a:lnTo>
                <a:lnTo>
                  <a:pt x="0" y="0"/>
                </a:lnTo>
                <a:close/>
              </a:path>
            </a:pathLst>
          </a:custGeom>
          <a:blipFill rotWithShape="1">
            <a:blip r:embed="rId5">
              <a:alphaModFix/>
            </a:blip>
            <a:stretch>
              <a:fillRect b="0" l="0" r="0" t="0"/>
            </a:stretch>
          </a:blipFill>
          <a:ln>
            <a:noFill/>
          </a:ln>
        </p:spPr>
      </p:sp>
      <p:sp>
        <p:nvSpPr>
          <p:cNvPr id="182" name="Google Shape;182;p7"/>
          <p:cNvSpPr txBox="1"/>
          <p:nvPr/>
        </p:nvSpPr>
        <p:spPr>
          <a:xfrm>
            <a:off x="4001874" y="287052"/>
            <a:ext cx="10906040" cy="1349947"/>
          </a:xfrm>
          <a:prstGeom prst="rect">
            <a:avLst/>
          </a:prstGeom>
          <a:noFill/>
          <a:ln>
            <a:noFill/>
          </a:ln>
        </p:spPr>
        <p:txBody>
          <a:bodyPr anchorCtr="0" anchor="t" bIns="0" lIns="0" spcFirstLastPara="1" rIns="0" wrap="square" tIns="0">
            <a:spAutoFit/>
          </a:bodyPr>
          <a:lstStyle/>
          <a:p>
            <a:pPr indent="0" lvl="0" marL="0" marR="0" rtl="0" algn="ctr">
              <a:lnSpc>
                <a:spcPct val="138007"/>
              </a:lnSpc>
              <a:spcBef>
                <a:spcPts val="0"/>
              </a:spcBef>
              <a:spcAft>
                <a:spcPts val="0"/>
              </a:spcAft>
              <a:buNone/>
            </a:pPr>
            <a:r>
              <a:rPr b="1" i="0" lang="en-US" sz="8030" u="none" cap="none" strike="noStrike">
                <a:solidFill>
                  <a:srgbClr val="FFFFFF"/>
                </a:solidFill>
                <a:latin typeface="Oswald"/>
                <a:ea typeface="Oswald"/>
                <a:cs typeface="Oswald"/>
                <a:sym typeface="Oswald"/>
              </a:rPr>
              <a:t>Delimitación</a:t>
            </a:r>
            <a:endParaRPr/>
          </a:p>
        </p:txBody>
      </p:sp>
      <p:sp>
        <p:nvSpPr>
          <p:cNvPr id="183" name="Google Shape;183;p7"/>
          <p:cNvSpPr txBox="1"/>
          <p:nvPr/>
        </p:nvSpPr>
        <p:spPr>
          <a:xfrm>
            <a:off x="6852108" y="2296326"/>
            <a:ext cx="11163094" cy="2560839"/>
          </a:xfrm>
          <a:prstGeom prst="rect">
            <a:avLst/>
          </a:prstGeom>
          <a:noFill/>
          <a:ln>
            <a:noFill/>
          </a:ln>
        </p:spPr>
        <p:txBody>
          <a:bodyPr anchorCtr="0" anchor="t" bIns="0" lIns="0" spcFirstLastPara="1" rIns="0" wrap="square" tIns="0">
            <a:spAutoFit/>
          </a:bodyPr>
          <a:lstStyle/>
          <a:p>
            <a:pPr indent="0" lvl="0" marL="0" marR="0" rtl="0" algn="l">
              <a:lnSpc>
                <a:spcPct val="137987"/>
              </a:lnSpc>
              <a:spcBef>
                <a:spcPts val="0"/>
              </a:spcBef>
              <a:spcAft>
                <a:spcPts val="0"/>
              </a:spcAft>
              <a:buNone/>
            </a:pPr>
            <a:r>
              <a:rPr b="0" i="0" lang="en-US" sz="2485" u="none" cap="none" strike="noStrike">
                <a:solidFill>
                  <a:srgbClr val="F2F4F5"/>
                </a:solidFill>
                <a:latin typeface="DM Sans"/>
                <a:ea typeface="DM Sans"/>
                <a:cs typeface="DM Sans"/>
                <a:sym typeface="DM Sans"/>
              </a:rPr>
              <a:t>El presente proyecto se desarrollará en el taller de confección Novaro's, enfocándose en la gestión de los empleados y sus actividades laborales. El sistema de información abarcará los procesos de control de asistencia, gestión de horarios, asignación de tareas y registro de producción.</a:t>
            </a:r>
            <a:endParaRPr/>
          </a:p>
          <a:p>
            <a:pPr indent="0" lvl="0" marL="0" marR="0" rtl="0" algn="l">
              <a:lnSpc>
                <a:spcPct val="137987"/>
              </a:lnSpc>
              <a:spcBef>
                <a:spcPts val="0"/>
              </a:spcBef>
              <a:spcAft>
                <a:spcPts val="0"/>
              </a:spcAft>
              <a:buNone/>
            </a:pPr>
            <a:r>
              <a:t/>
            </a:r>
            <a:endParaRPr b="0" i="0" sz="2485" u="none" cap="none" strike="noStrike">
              <a:solidFill>
                <a:srgbClr val="F2F4F5"/>
              </a:solidFill>
              <a:latin typeface="DM Sans"/>
              <a:ea typeface="DM Sans"/>
              <a:cs typeface="DM Sans"/>
              <a:sym typeface="DM Sans"/>
            </a:endParaRPr>
          </a:p>
        </p:txBody>
      </p:sp>
      <p:sp>
        <p:nvSpPr>
          <p:cNvPr id="184" name="Google Shape;184;p7"/>
          <p:cNvSpPr txBox="1"/>
          <p:nvPr/>
        </p:nvSpPr>
        <p:spPr>
          <a:xfrm>
            <a:off x="939265" y="6136375"/>
            <a:ext cx="10676573" cy="2560839"/>
          </a:xfrm>
          <a:prstGeom prst="rect">
            <a:avLst/>
          </a:prstGeom>
          <a:noFill/>
          <a:ln>
            <a:noFill/>
          </a:ln>
        </p:spPr>
        <p:txBody>
          <a:bodyPr anchorCtr="0" anchor="t" bIns="0" lIns="0" spcFirstLastPara="1" rIns="0" wrap="square" tIns="0">
            <a:spAutoFit/>
          </a:bodyPr>
          <a:lstStyle/>
          <a:p>
            <a:pPr indent="0" lvl="0" marL="0" marR="0" rtl="0" algn="l">
              <a:lnSpc>
                <a:spcPct val="137987"/>
              </a:lnSpc>
              <a:spcBef>
                <a:spcPts val="0"/>
              </a:spcBef>
              <a:spcAft>
                <a:spcPts val="0"/>
              </a:spcAft>
              <a:buNone/>
            </a:pPr>
            <a:r>
              <a:rPr b="0" i="0" lang="en-US" sz="2485" u="none" cap="none" strike="noStrike">
                <a:solidFill>
                  <a:srgbClr val="F2F4F5"/>
                </a:solidFill>
                <a:latin typeface="DM Sans"/>
                <a:ea typeface="DM Sans"/>
                <a:cs typeface="DM Sans"/>
                <a:sym typeface="DM Sans"/>
              </a:rPr>
              <a:t>El desarrollo se centrará en la implementación de estos módulos básicos, sin incluir funcionalidades avanzadas como integración con sistemas contables externos o automatización completa de nómina. Asimismo, el sistema será utilizado por el dueño y/o supervisor del taller para la gestión interna de la información.</a:t>
            </a:r>
            <a:endParaRPr/>
          </a:p>
        </p:txBody>
      </p:sp>
      <p:sp>
        <p:nvSpPr>
          <p:cNvPr id="185" name="Google Shape;185;p7"/>
          <p:cNvSpPr txBox="1"/>
          <p:nvPr/>
        </p:nvSpPr>
        <p:spPr>
          <a:xfrm>
            <a:off x="12433655" y="9220200"/>
            <a:ext cx="6997854" cy="443745"/>
          </a:xfrm>
          <a:prstGeom prst="rect">
            <a:avLst/>
          </a:prstGeom>
          <a:noFill/>
          <a:ln>
            <a:noFill/>
          </a:ln>
        </p:spPr>
        <p:txBody>
          <a:bodyPr anchorCtr="0" anchor="t" bIns="0" lIns="0" spcFirstLastPara="1" rIns="0" wrap="square" tIns="0">
            <a:spAutoFit/>
          </a:bodyPr>
          <a:lstStyle/>
          <a:p>
            <a:pPr indent="0" lvl="0" marL="0" marR="0" rtl="0" algn="l">
              <a:lnSpc>
                <a:spcPct val="138038"/>
              </a:lnSpc>
              <a:spcBef>
                <a:spcPts val="0"/>
              </a:spcBef>
              <a:spcAft>
                <a:spcPts val="0"/>
              </a:spcAft>
              <a:buNone/>
            </a:pPr>
            <a:r>
              <a:rPr b="1" i="0" lang="en-US" sz="2671" u="sng" cap="none" strike="noStrike">
                <a:solidFill>
                  <a:srgbClr val="F2F4F5"/>
                </a:solidFill>
                <a:latin typeface="DM Sans"/>
                <a:ea typeface="DM Sans"/>
                <a:cs typeface="DM Sans"/>
                <a:sym typeface="DM Sans"/>
                <a:hlinkClick r:id="rId6">
                  <a:extLst>
                    <a:ext uri="{A12FA001-AC4F-418D-AE19-62706E023703}">
                      <ahyp:hlinkClr val="tx"/>
                    </a:ext>
                  </a:extLst>
                </a:hlinkClick>
              </a:rPr>
              <a:t>Figura 6.</a:t>
            </a:r>
            <a:r>
              <a:rPr b="0" i="1" lang="en-US" sz="2671" u="sng" cap="none" strike="noStrike">
                <a:solidFill>
                  <a:srgbClr val="F2F4F5"/>
                </a:solidFill>
                <a:latin typeface="Sansita"/>
                <a:ea typeface="Sansita"/>
                <a:cs typeface="Sansita"/>
                <a:sym typeface="Sansita"/>
                <a:hlinkClick r:id="rId7">
                  <a:extLst>
                    <a:ext uri="{A12FA001-AC4F-418D-AE19-62706E023703}">
                      <ahyp:hlinkClr val="tx"/>
                    </a:ext>
                  </a:extLst>
                </a:hlinkClick>
              </a:rPr>
              <a:t> Limites</a:t>
            </a:r>
            <a:endParaRPr/>
          </a:p>
        </p:txBody>
      </p:sp>
      <p:sp>
        <p:nvSpPr>
          <p:cNvPr id="186" name="Google Shape;186;p7"/>
          <p:cNvSpPr txBox="1"/>
          <p:nvPr/>
        </p:nvSpPr>
        <p:spPr>
          <a:xfrm>
            <a:off x="1436444" y="5058859"/>
            <a:ext cx="6997854" cy="443745"/>
          </a:xfrm>
          <a:prstGeom prst="rect">
            <a:avLst/>
          </a:prstGeom>
          <a:noFill/>
          <a:ln>
            <a:noFill/>
          </a:ln>
        </p:spPr>
        <p:txBody>
          <a:bodyPr anchorCtr="0" anchor="t" bIns="0" lIns="0" spcFirstLastPara="1" rIns="0" wrap="square" tIns="0">
            <a:spAutoFit/>
          </a:bodyPr>
          <a:lstStyle/>
          <a:p>
            <a:pPr indent="0" lvl="0" marL="0" marR="0" rtl="0" algn="l">
              <a:lnSpc>
                <a:spcPct val="138038"/>
              </a:lnSpc>
              <a:spcBef>
                <a:spcPts val="0"/>
              </a:spcBef>
              <a:spcAft>
                <a:spcPts val="0"/>
              </a:spcAft>
              <a:buNone/>
            </a:pPr>
            <a:r>
              <a:rPr b="1" i="0" lang="en-US" sz="2671" u="sng" cap="none" strike="noStrike">
                <a:solidFill>
                  <a:srgbClr val="F2F4F5"/>
                </a:solidFill>
                <a:latin typeface="DM Sans"/>
                <a:ea typeface="DM Sans"/>
                <a:cs typeface="DM Sans"/>
                <a:sym typeface="DM Sans"/>
                <a:hlinkClick r:id="rId8">
                  <a:extLst>
                    <a:ext uri="{A12FA001-AC4F-418D-AE19-62706E023703}">
                      <ahyp:hlinkClr val="tx"/>
                    </a:ext>
                  </a:extLst>
                </a:hlinkClick>
              </a:rPr>
              <a:t>Figura 6.</a:t>
            </a:r>
            <a:r>
              <a:rPr b="0" i="1" lang="en-US" sz="2671" u="sng" cap="none" strike="noStrike">
                <a:solidFill>
                  <a:srgbClr val="F2F4F5"/>
                </a:solidFill>
                <a:latin typeface="Sansita"/>
                <a:ea typeface="Sansita"/>
                <a:cs typeface="Sansita"/>
                <a:sym typeface="Sansita"/>
                <a:hlinkClick r:id="rId9">
                  <a:extLst>
                    <a:ext uri="{A12FA001-AC4F-418D-AE19-62706E023703}">
                      <ahyp:hlinkClr val="tx"/>
                    </a:ext>
                  </a:extLst>
                </a:hlinkClick>
              </a:rPr>
              <a:t> Empleados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90" name="Shape 190"/>
        <p:cNvGrpSpPr/>
        <p:nvPr/>
      </p:nvGrpSpPr>
      <p:grpSpPr>
        <a:xfrm>
          <a:off x="0" y="0"/>
          <a:ext cx="0" cy="0"/>
          <a:chOff x="0" y="0"/>
          <a:chExt cx="0" cy="0"/>
        </a:xfrm>
      </p:grpSpPr>
      <p:sp>
        <p:nvSpPr>
          <p:cNvPr id="191" name="Google Shape;191;p8"/>
          <p:cNvSpPr/>
          <p:nvPr/>
        </p:nvSpPr>
        <p:spPr>
          <a:xfrm>
            <a:off x="-8760017" y="-12044846"/>
            <a:ext cx="15841853" cy="16255633"/>
          </a:xfrm>
          <a:custGeom>
            <a:rect b="b" l="l" r="r" t="t"/>
            <a:pathLst>
              <a:path extrusionOk="0" h="16255633" w="15841853">
                <a:moveTo>
                  <a:pt x="0" y="0"/>
                </a:moveTo>
                <a:lnTo>
                  <a:pt x="15841853" y="0"/>
                </a:lnTo>
                <a:lnTo>
                  <a:pt x="15841853" y="16255633"/>
                </a:lnTo>
                <a:lnTo>
                  <a:pt x="0" y="16255633"/>
                </a:lnTo>
                <a:lnTo>
                  <a:pt x="0" y="0"/>
                </a:lnTo>
                <a:close/>
              </a:path>
            </a:pathLst>
          </a:custGeom>
          <a:blipFill rotWithShape="1">
            <a:blip r:embed="rId3">
              <a:alphaModFix/>
            </a:blip>
            <a:stretch>
              <a:fillRect b="0" l="0" r="0" t="0"/>
            </a:stretch>
          </a:blipFill>
          <a:ln>
            <a:noFill/>
          </a:ln>
        </p:spPr>
      </p:sp>
      <p:sp>
        <p:nvSpPr>
          <p:cNvPr id="192" name="Google Shape;192;p8"/>
          <p:cNvSpPr/>
          <p:nvPr/>
        </p:nvSpPr>
        <p:spPr>
          <a:xfrm>
            <a:off x="13857996" y="-3917030"/>
            <a:ext cx="15841853" cy="16255633"/>
          </a:xfrm>
          <a:custGeom>
            <a:rect b="b" l="l" r="r" t="t"/>
            <a:pathLst>
              <a:path extrusionOk="0" h="16255633" w="15841853">
                <a:moveTo>
                  <a:pt x="0" y="0"/>
                </a:moveTo>
                <a:lnTo>
                  <a:pt x="15841853" y="0"/>
                </a:lnTo>
                <a:lnTo>
                  <a:pt x="15841853" y="16255633"/>
                </a:lnTo>
                <a:lnTo>
                  <a:pt x="0" y="16255633"/>
                </a:lnTo>
                <a:lnTo>
                  <a:pt x="0" y="0"/>
                </a:lnTo>
                <a:close/>
              </a:path>
            </a:pathLst>
          </a:custGeom>
          <a:blipFill rotWithShape="1">
            <a:blip r:embed="rId3">
              <a:alphaModFix/>
            </a:blip>
            <a:stretch>
              <a:fillRect b="0" l="0" r="0" t="0"/>
            </a:stretch>
          </a:blipFill>
          <a:ln>
            <a:noFill/>
          </a:ln>
        </p:spPr>
      </p:sp>
      <p:sp>
        <p:nvSpPr>
          <p:cNvPr id="193" name="Google Shape;193;p8"/>
          <p:cNvSpPr/>
          <p:nvPr/>
        </p:nvSpPr>
        <p:spPr>
          <a:xfrm>
            <a:off x="10448716" y="2256815"/>
            <a:ext cx="7554579" cy="5231457"/>
          </a:xfrm>
          <a:custGeom>
            <a:rect b="b" l="l" r="r" t="t"/>
            <a:pathLst>
              <a:path extrusionOk="0" h="5231457" w="7554579">
                <a:moveTo>
                  <a:pt x="0" y="0"/>
                </a:moveTo>
                <a:lnTo>
                  <a:pt x="7554579" y="0"/>
                </a:lnTo>
                <a:lnTo>
                  <a:pt x="7554579" y="5231458"/>
                </a:lnTo>
                <a:lnTo>
                  <a:pt x="0" y="5231458"/>
                </a:lnTo>
                <a:lnTo>
                  <a:pt x="0" y="0"/>
                </a:lnTo>
                <a:close/>
              </a:path>
            </a:pathLst>
          </a:custGeom>
          <a:blipFill rotWithShape="1">
            <a:blip r:embed="rId4">
              <a:alphaModFix/>
            </a:blip>
            <a:stretch>
              <a:fillRect b="0" l="0" r="0" t="0"/>
            </a:stretch>
          </a:blipFill>
          <a:ln>
            <a:noFill/>
          </a:ln>
        </p:spPr>
      </p:sp>
      <p:sp>
        <p:nvSpPr>
          <p:cNvPr id="194" name="Google Shape;194;p8"/>
          <p:cNvSpPr txBox="1"/>
          <p:nvPr/>
        </p:nvSpPr>
        <p:spPr>
          <a:xfrm>
            <a:off x="1343437" y="2209190"/>
            <a:ext cx="9560112" cy="7553935"/>
          </a:xfrm>
          <a:prstGeom prst="rect">
            <a:avLst/>
          </a:prstGeom>
          <a:noFill/>
          <a:ln>
            <a:noFill/>
          </a:ln>
        </p:spPr>
        <p:txBody>
          <a:bodyPr anchorCtr="0" anchor="t" bIns="0" lIns="0" spcFirstLastPara="1" rIns="0" wrap="square" tIns="0">
            <a:spAutoFit/>
          </a:bodyPr>
          <a:lstStyle/>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El sistema de información permitirá registrar y gestionar los datos de los empleados, así como controlar la asistencia, organizar los horarios, asignar tareas y registrar la producción diaria. Además, facilitará la consulta de la información de manera rápida y ordenada, apoyando la toma de decisiones dentro del taller.</a:t>
            </a:r>
            <a:endParaRPr/>
          </a:p>
          <a:p>
            <a:pPr indent="0" lvl="0" marL="0" marR="0" rtl="0" algn="l">
              <a:lnSpc>
                <a:spcPct val="138040"/>
              </a:lnSpc>
              <a:spcBef>
                <a:spcPts val="0"/>
              </a:spcBef>
              <a:spcAft>
                <a:spcPts val="0"/>
              </a:spcAft>
              <a:buNone/>
            </a:pPr>
            <a:r>
              <a:t/>
            </a:r>
            <a:endParaRPr b="0" i="0" sz="2889" u="none" cap="none" strike="noStrike">
              <a:solidFill>
                <a:srgbClr val="F2F4F5"/>
              </a:solidFill>
              <a:latin typeface="DM Sans"/>
              <a:ea typeface="DM Sans"/>
              <a:cs typeface="DM Sans"/>
              <a:sym typeface="DM Sans"/>
            </a:endParaRPr>
          </a:p>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El proyecto contempla el diseño y desarrollo de una solución funcional que contribuya a mejorar la organización de la información y la gestión del personal, permitiendo optimizar los procesos internos del taller de confección.</a:t>
            </a:r>
            <a:endParaRPr/>
          </a:p>
          <a:p>
            <a:pPr indent="0" lvl="0" marL="0" marR="0" rtl="0" algn="l">
              <a:lnSpc>
                <a:spcPct val="138040"/>
              </a:lnSpc>
              <a:spcBef>
                <a:spcPts val="0"/>
              </a:spcBef>
              <a:spcAft>
                <a:spcPts val="0"/>
              </a:spcAft>
              <a:buNone/>
            </a:pPr>
            <a:r>
              <a:t/>
            </a:r>
            <a:endParaRPr b="0" i="0" sz="2889" u="none" cap="none" strike="noStrike">
              <a:solidFill>
                <a:srgbClr val="F2F4F5"/>
              </a:solidFill>
              <a:latin typeface="DM Sans"/>
              <a:ea typeface="DM Sans"/>
              <a:cs typeface="DM Sans"/>
              <a:sym typeface="DM Sans"/>
            </a:endParaRPr>
          </a:p>
        </p:txBody>
      </p:sp>
      <p:sp>
        <p:nvSpPr>
          <p:cNvPr id="195" name="Google Shape;195;p8"/>
          <p:cNvSpPr txBox="1"/>
          <p:nvPr/>
        </p:nvSpPr>
        <p:spPr>
          <a:xfrm>
            <a:off x="1343437" y="783013"/>
            <a:ext cx="12514559" cy="1349959"/>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None/>
            </a:pPr>
            <a:r>
              <a:rPr b="1" i="0" lang="en-US" sz="8030" u="none" cap="none" strike="noStrike">
                <a:solidFill>
                  <a:srgbClr val="FFFFFF"/>
                </a:solidFill>
                <a:latin typeface="Oswald"/>
                <a:ea typeface="Oswald"/>
                <a:cs typeface="Oswald"/>
                <a:sym typeface="Oswald"/>
              </a:rPr>
              <a:t>Alcance</a:t>
            </a:r>
            <a:endParaRPr/>
          </a:p>
        </p:txBody>
      </p:sp>
      <p:sp>
        <p:nvSpPr>
          <p:cNvPr id="196" name="Google Shape;196;p8"/>
          <p:cNvSpPr txBox="1"/>
          <p:nvPr/>
        </p:nvSpPr>
        <p:spPr>
          <a:xfrm>
            <a:off x="12167679" y="8025817"/>
            <a:ext cx="7968323" cy="501949"/>
          </a:xfrm>
          <a:prstGeom prst="rect">
            <a:avLst/>
          </a:prstGeom>
          <a:noFill/>
          <a:ln>
            <a:noFill/>
          </a:ln>
        </p:spPr>
        <p:txBody>
          <a:bodyPr anchorCtr="0" anchor="t" bIns="0" lIns="0" spcFirstLastPara="1" rIns="0" wrap="square" tIns="0">
            <a:spAutoFit/>
          </a:bodyPr>
          <a:lstStyle/>
          <a:p>
            <a:pPr indent="0" lvl="0" marL="0" marR="0" rtl="0" algn="l">
              <a:lnSpc>
                <a:spcPct val="138001"/>
              </a:lnSpc>
              <a:spcBef>
                <a:spcPts val="0"/>
              </a:spcBef>
              <a:spcAft>
                <a:spcPts val="0"/>
              </a:spcAft>
              <a:buNone/>
            </a:pPr>
            <a:r>
              <a:rPr b="1" i="0" lang="en-US" sz="3042" u="sng" cap="none" strike="noStrike">
                <a:solidFill>
                  <a:srgbClr val="F2F4F5"/>
                </a:solidFill>
                <a:latin typeface="DM Sans"/>
                <a:ea typeface="DM Sans"/>
                <a:cs typeface="DM Sans"/>
                <a:sym typeface="DM Sans"/>
                <a:hlinkClick r:id="rId5">
                  <a:extLst>
                    <a:ext uri="{A12FA001-AC4F-418D-AE19-62706E023703}">
                      <ahyp:hlinkClr val="tx"/>
                    </a:ext>
                  </a:extLst>
                </a:hlinkClick>
              </a:rPr>
              <a:t>Figura 7.</a:t>
            </a:r>
            <a:r>
              <a:rPr b="0" i="0" lang="en-US" sz="3042" u="sng" cap="none" strike="noStrike">
                <a:solidFill>
                  <a:srgbClr val="F2F4F5"/>
                </a:solidFill>
                <a:latin typeface="DM Sans"/>
                <a:ea typeface="DM Sans"/>
                <a:cs typeface="DM Sans"/>
                <a:sym typeface="DM Sans"/>
                <a:hlinkClick r:id="rId6">
                  <a:extLst>
                    <a:ext uri="{A12FA001-AC4F-418D-AE19-62706E023703}">
                      <ahyp:hlinkClr val="tx"/>
                    </a:ext>
                  </a:extLst>
                </a:hlinkClick>
              </a:rPr>
              <a:t> </a:t>
            </a:r>
            <a:r>
              <a:rPr b="0" i="1" lang="en-US" sz="3042" u="sng" cap="none" strike="noStrike">
                <a:solidFill>
                  <a:srgbClr val="F2F4F5"/>
                </a:solidFill>
                <a:latin typeface="Sansita"/>
                <a:ea typeface="Sansita"/>
                <a:cs typeface="Sansita"/>
                <a:sym typeface="Sansita"/>
                <a:hlinkClick r:id="rId7">
                  <a:extLst>
                    <a:ext uri="{A12FA001-AC4F-418D-AE19-62706E023703}">
                      <ahyp:hlinkClr val="tx"/>
                    </a:ext>
                  </a:extLst>
                </a:hlinkClick>
              </a:rPr>
              <a:t>Alcanzar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00" name="Shape 200"/>
        <p:cNvGrpSpPr/>
        <p:nvPr/>
      </p:nvGrpSpPr>
      <p:grpSpPr>
        <a:xfrm>
          <a:off x="0" y="0"/>
          <a:ext cx="0" cy="0"/>
          <a:chOff x="0" y="0"/>
          <a:chExt cx="0" cy="0"/>
        </a:xfrm>
      </p:grpSpPr>
      <p:sp>
        <p:nvSpPr>
          <p:cNvPr id="201" name="Google Shape;201;p9"/>
          <p:cNvSpPr/>
          <p:nvPr/>
        </p:nvSpPr>
        <p:spPr>
          <a:xfrm rot="79045">
            <a:off x="90271" y="4184598"/>
            <a:ext cx="18804424" cy="8068807"/>
          </a:xfrm>
          <a:custGeom>
            <a:rect b="b" l="l" r="r" t="t"/>
            <a:pathLst>
              <a:path extrusionOk="0" h="8068807" w="18804424">
                <a:moveTo>
                  <a:pt x="0" y="0"/>
                </a:moveTo>
                <a:lnTo>
                  <a:pt x="18804425" y="0"/>
                </a:lnTo>
                <a:lnTo>
                  <a:pt x="18804425" y="8068807"/>
                </a:lnTo>
                <a:lnTo>
                  <a:pt x="0" y="8068807"/>
                </a:lnTo>
                <a:lnTo>
                  <a:pt x="0" y="0"/>
                </a:lnTo>
                <a:close/>
              </a:path>
            </a:pathLst>
          </a:custGeom>
          <a:blipFill rotWithShape="1">
            <a:blip r:embed="rId3">
              <a:alphaModFix/>
            </a:blip>
            <a:stretch>
              <a:fillRect b="0" l="0" r="0" t="0"/>
            </a:stretch>
          </a:blipFill>
          <a:ln>
            <a:noFill/>
          </a:ln>
        </p:spPr>
      </p:sp>
      <p:grpSp>
        <p:nvGrpSpPr>
          <p:cNvPr id="202" name="Google Shape;202;p9"/>
          <p:cNvGrpSpPr/>
          <p:nvPr/>
        </p:nvGrpSpPr>
        <p:grpSpPr>
          <a:xfrm>
            <a:off x="11406079" y="2516695"/>
            <a:ext cx="4823634" cy="7265292"/>
            <a:chOff x="0" y="-57150"/>
            <a:chExt cx="1279723" cy="1927501"/>
          </a:xfrm>
        </p:grpSpPr>
        <p:sp>
          <p:nvSpPr>
            <p:cNvPr id="203" name="Google Shape;203;p9"/>
            <p:cNvSpPr/>
            <p:nvPr/>
          </p:nvSpPr>
          <p:spPr>
            <a:xfrm>
              <a:off x="0" y="0"/>
              <a:ext cx="1279723" cy="1870351"/>
            </a:xfrm>
            <a:custGeom>
              <a:rect b="b" l="l" r="r" t="t"/>
              <a:pathLst>
                <a:path extrusionOk="0" h="1870351" w="1279723">
                  <a:moveTo>
                    <a:pt x="1605" y="0"/>
                  </a:moveTo>
                  <a:lnTo>
                    <a:pt x="1278118" y="0"/>
                  </a:lnTo>
                  <a:cubicBezTo>
                    <a:pt x="1279005" y="0"/>
                    <a:pt x="1279723" y="719"/>
                    <a:pt x="1279723" y="1605"/>
                  </a:cubicBezTo>
                  <a:lnTo>
                    <a:pt x="1279723" y="1868746"/>
                  </a:lnTo>
                  <a:cubicBezTo>
                    <a:pt x="1279723" y="1869633"/>
                    <a:pt x="1279005" y="1870351"/>
                    <a:pt x="1278118" y="1870351"/>
                  </a:cubicBezTo>
                  <a:lnTo>
                    <a:pt x="1605" y="1870351"/>
                  </a:lnTo>
                  <a:cubicBezTo>
                    <a:pt x="719" y="1870351"/>
                    <a:pt x="0" y="1869633"/>
                    <a:pt x="0" y="1868746"/>
                  </a:cubicBezTo>
                  <a:lnTo>
                    <a:pt x="0" y="1605"/>
                  </a:lnTo>
                  <a:cubicBezTo>
                    <a:pt x="0" y="719"/>
                    <a:pt x="719" y="0"/>
                    <a:pt x="1605" y="0"/>
                  </a:cubicBezTo>
                  <a:close/>
                </a:path>
              </a:pathLst>
            </a:custGeom>
            <a:solidFill>
              <a:srgbClr val="1A1A1A"/>
            </a:solidFill>
            <a:ln cap="sq" cmpd="sng" w="38100">
              <a:solidFill>
                <a:srgbClr val="FFFBF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txBox="1"/>
            <p:nvPr/>
          </p:nvSpPr>
          <p:spPr>
            <a:xfrm>
              <a:off x="0" y="-57150"/>
              <a:ext cx="1279723" cy="1927501"/>
            </a:xfrm>
            <a:prstGeom prst="rect">
              <a:avLst/>
            </a:prstGeom>
            <a:noFill/>
            <a:ln>
              <a:noFill/>
            </a:ln>
          </p:spPr>
          <p:txBody>
            <a:bodyPr anchorCtr="0" anchor="ctr" bIns="50800" lIns="50800" spcFirstLastPara="1" rIns="50800" wrap="square" tIns="50800">
              <a:noAutofit/>
            </a:bodyPr>
            <a:lstStyle/>
            <a:p>
              <a:pPr indent="0" lvl="0" marL="0" marR="0" rtl="0" algn="ctr">
                <a:lnSpc>
                  <a:spcPct val="22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9"/>
          <p:cNvGrpSpPr/>
          <p:nvPr/>
        </p:nvGrpSpPr>
        <p:grpSpPr>
          <a:xfrm>
            <a:off x="6619402" y="2517527"/>
            <a:ext cx="4804993" cy="7264460"/>
            <a:chOff x="0" y="-57150"/>
            <a:chExt cx="1279723" cy="1934758"/>
          </a:xfrm>
        </p:grpSpPr>
        <p:sp>
          <p:nvSpPr>
            <p:cNvPr id="206" name="Google Shape;206;p9"/>
            <p:cNvSpPr/>
            <p:nvPr/>
          </p:nvSpPr>
          <p:spPr>
            <a:xfrm>
              <a:off x="0" y="0"/>
              <a:ext cx="1279723" cy="1877608"/>
            </a:xfrm>
            <a:custGeom>
              <a:rect b="b" l="l" r="r" t="t"/>
              <a:pathLst>
                <a:path extrusionOk="0" h="1877608" w="1279723">
                  <a:moveTo>
                    <a:pt x="1611" y="0"/>
                  </a:moveTo>
                  <a:lnTo>
                    <a:pt x="1278112" y="0"/>
                  </a:lnTo>
                  <a:cubicBezTo>
                    <a:pt x="1279002" y="0"/>
                    <a:pt x="1279723" y="721"/>
                    <a:pt x="1279723" y="1611"/>
                  </a:cubicBezTo>
                  <a:lnTo>
                    <a:pt x="1279723" y="1875997"/>
                  </a:lnTo>
                  <a:cubicBezTo>
                    <a:pt x="1279723" y="1876424"/>
                    <a:pt x="1279553" y="1876834"/>
                    <a:pt x="1279251" y="1877136"/>
                  </a:cubicBezTo>
                  <a:cubicBezTo>
                    <a:pt x="1278949" y="1877438"/>
                    <a:pt x="1278539" y="1877608"/>
                    <a:pt x="1278112" y="1877608"/>
                  </a:cubicBezTo>
                  <a:lnTo>
                    <a:pt x="1611" y="1877608"/>
                  </a:lnTo>
                  <a:cubicBezTo>
                    <a:pt x="1184" y="1877608"/>
                    <a:pt x="774" y="1877438"/>
                    <a:pt x="472" y="1877136"/>
                  </a:cubicBezTo>
                  <a:cubicBezTo>
                    <a:pt x="170" y="1876834"/>
                    <a:pt x="0" y="1876424"/>
                    <a:pt x="0" y="1875997"/>
                  </a:cubicBezTo>
                  <a:lnTo>
                    <a:pt x="0" y="1611"/>
                  </a:lnTo>
                  <a:cubicBezTo>
                    <a:pt x="0" y="1184"/>
                    <a:pt x="170" y="774"/>
                    <a:pt x="472" y="472"/>
                  </a:cubicBezTo>
                  <a:cubicBezTo>
                    <a:pt x="774" y="170"/>
                    <a:pt x="1184" y="0"/>
                    <a:pt x="1611" y="0"/>
                  </a:cubicBezTo>
                  <a:close/>
                </a:path>
              </a:pathLst>
            </a:custGeom>
            <a:solidFill>
              <a:srgbClr val="1A1A1A"/>
            </a:solidFill>
            <a:ln cap="sq" cmpd="sng" w="38100">
              <a:solidFill>
                <a:srgbClr val="FFFBF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txBox="1"/>
            <p:nvPr/>
          </p:nvSpPr>
          <p:spPr>
            <a:xfrm>
              <a:off x="0" y="-57150"/>
              <a:ext cx="1279723" cy="1934758"/>
            </a:xfrm>
            <a:prstGeom prst="rect">
              <a:avLst/>
            </a:prstGeom>
            <a:noFill/>
            <a:ln>
              <a:noFill/>
            </a:ln>
          </p:spPr>
          <p:txBody>
            <a:bodyPr anchorCtr="0" anchor="ctr" bIns="50800" lIns="50800" spcFirstLastPara="1" rIns="50800" wrap="square" tIns="50800">
              <a:noAutofit/>
            </a:bodyPr>
            <a:lstStyle/>
            <a:p>
              <a:pPr indent="0" lvl="0" marL="0" marR="0" rtl="0" algn="ctr">
                <a:lnSpc>
                  <a:spcPct val="22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 name="Google Shape;208;p9"/>
          <p:cNvGrpSpPr/>
          <p:nvPr/>
        </p:nvGrpSpPr>
        <p:grpSpPr>
          <a:xfrm>
            <a:off x="1813679" y="2517527"/>
            <a:ext cx="4804993" cy="7264460"/>
            <a:chOff x="0" y="-57150"/>
            <a:chExt cx="1279723" cy="1934758"/>
          </a:xfrm>
        </p:grpSpPr>
        <p:sp>
          <p:nvSpPr>
            <p:cNvPr id="209" name="Google Shape;209;p9"/>
            <p:cNvSpPr/>
            <p:nvPr/>
          </p:nvSpPr>
          <p:spPr>
            <a:xfrm>
              <a:off x="0" y="0"/>
              <a:ext cx="1279723" cy="1877608"/>
            </a:xfrm>
            <a:custGeom>
              <a:rect b="b" l="l" r="r" t="t"/>
              <a:pathLst>
                <a:path extrusionOk="0" h="1877608" w="1279723">
                  <a:moveTo>
                    <a:pt x="1611" y="0"/>
                  </a:moveTo>
                  <a:lnTo>
                    <a:pt x="1278112" y="0"/>
                  </a:lnTo>
                  <a:cubicBezTo>
                    <a:pt x="1279002" y="0"/>
                    <a:pt x="1279723" y="721"/>
                    <a:pt x="1279723" y="1611"/>
                  </a:cubicBezTo>
                  <a:lnTo>
                    <a:pt x="1279723" y="1875997"/>
                  </a:lnTo>
                  <a:cubicBezTo>
                    <a:pt x="1279723" y="1876424"/>
                    <a:pt x="1279553" y="1876834"/>
                    <a:pt x="1279251" y="1877136"/>
                  </a:cubicBezTo>
                  <a:cubicBezTo>
                    <a:pt x="1278949" y="1877438"/>
                    <a:pt x="1278539" y="1877608"/>
                    <a:pt x="1278112" y="1877608"/>
                  </a:cubicBezTo>
                  <a:lnTo>
                    <a:pt x="1611" y="1877608"/>
                  </a:lnTo>
                  <a:cubicBezTo>
                    <a:pt x="1184" y="1877608"/>
                    <a:pt x="774" y="1877438"/>
                    <a:pt x="472" y="1877136"/>
                  </a:cubicBezTo>
                  <a:cubicBezTo>
                    <a:pt x="170" y="1876834"/>
                    <a:pt x="0" y="1876424"/>
                    <a:pt x="0" y="1875997"/>
                  </a:cubicBezTo>
                  <a:lnTo>
                    <a:pt x="0" y="1611"/>
                  </a:lnTo>
                  <a:cubicBezTo>
                    <a:pt x="0" y="1184"/>
                    <a:pt x="170" y="774"/>
                    <a:pt x="472" y="472"/>
                  </a:cubicBezTo>
                  <a:cubicBezTo>
                    <a:pt x="774" y="170"/>
                    <a:pt x="1184" y="0"/>
                    <a:pt x="1611" y="0"/>
                  </a:cubicBezTo>
                  <a:close/>
                </a:path>
              </a:pathLst>
            </a:custGeom>
            <a:solidFill>
              <a:srgbClr val="1A1A1A"/>
            </a:solidFill>
            <a:ln cap="sq" cmpd="sng" w="38100">
              <a:solidFill>
                <a:srgbClr val="FFFBFB"/>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txBox="1"/>
            <p:nvPr/>
          </p:nvSpPr>
          <p:spPr>
            <a:xfrm>
              <a:off x="0" y="-57150"/>
              <a:ext cx="1279723" cy="1934758"/>
            </a:xfrm>
            <a:prstGeom prst="rect">
              <a:avLst/>
            </a:prstGeom>
            <a:noFill/>
            <a:ln>
              <a:noFill/>
            </a:ln>
          </p:spPr>
          <p:txBody>
            <a:bodyPr anchorCtr="0" anchor="ctr" bIns="50800" lIns="50800" spcFirstLastPara="1" rIns="50800" wrap="square" tIns="50800">
              <a:noAutofit/>
            </a:bodyPr>
            <a:lstStyle/>
            <a:p>
              <a:pPr indent="0" lvl="0" marL="0" marR="0" rtl="0" algn="ctr">
                <a:lnSpc>
                  <a:spcPct val="228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1" name="Google Shape;211;p9"/>
          <p:cNvSpPr/>
          <p:nvPr/>
        </p:nvSpPr>
        <p:spPr>
          <a:xfrm>
            <a:off x="3145065" y="3012532"/>
            <a:ext cx="1759837" cy="1759837"/>
          </a:xfrm>
          <a:custGeom>
            <a:rect b="b" l="l" r="r" t="t"/>
            <a:pathLst>
              <a:path extrusionOk="0" h="1759837" w="1759837">
                <a:moveTo>
                  <a:pt x="0" y="0"/>
                </a:moveTo>
                <a:lnTo>
                  <a:pt x="1759837" y="0"/>
                </a:lnTo>
                <a:lnTo>
                  <a:pt x="1759837" y="1759837"/>
                </a:lnTo>
                <a:lnTo>
                  <a:pt x="0" y="1759837"/>
                </a:lnTo>
                <a:lnTo>
                  <a:pt x="0" y="0"/>
                </a:lnTo>
                <a:close/>
              </a:path>
            </a:pathLst>
          </a:custGeom>
          <a:blipFill rotWithShape="1">
            <a:blip r:embed="rId4">
              <a:alphaModFix/>
            </a:blip>
            <a:stretch>
              <a:fillRect b="0" l="0" r="0" t="0"/>
            </a:stretch>
          </a:blipFill>
          <a:ln>
            <a:noFill/>
          </a:ln>
        </p:spPr>
      </p:sp>
      <p:sp>
        <p:nvSpPr>
          <p:cNvPr id="212" name="Google Shape;212;p9"/>
          <p:cNvSpPr/>
          <p:nvPr/>
        </p:nvSpPr>
        <p:spPr>
          <a:xfrm>
            <a:off x="8003390" y="2935489"/>
            <a:ext cx="1913924" cy="1913924"/>
          </a:xfrm>
          <a:custGeom>
            <a:rect b="b" l="l" r="r" t="t"/>
            <a:pathLst>
              <a:path extrusionOk="0" h="1913924" w="1913924">
                <a:moveTo>
                  <a:pt x="0" y="0"/>
                </a:moveTo>
                <a:lnTo>
                  <a:pt x="1913924" y="0"/>
                </a:lnTo>
                <a:lnTo>
                  <a:pt x="1913924" y="1913923"/>
                </a:lnTo>
                <a:lnTo>
                  <a:pt x="0" y="1913923"/>
                </a:lnTo>
                <a:lnTo>
                  <a:pt x="0" y="0"/>
                </a:lnTo>
                <a:close/>
              </a:path>
            </a:pathLst>
          </a:custGeom>
          <a:blipFill rotWithShape="1">
            <a:blip r:embed="rId5">
              <a:alphaModFix/>
            </a:blip>
            <a:stretch>
              <a:fillRect b="0" l="0" r="0" t="0"/>
            </a:stretch>
          </a:blipFill>
          <a:ln>
            <a:noFill/>
          </a:ln>
        </p:spPr>
      </p:sp>
      <p:sp>
        <p:nvSpPr>
          <p:cNvPr id="213" name="Google Shape;213;p9"/>
          <p:cNvSpPr txBox="1"/>
          <p:nvPr/>
        </p:nvSpPr>
        <p:spPr>
          <a:xfrm>
            <a:off x="2029862" y="1112985"/>
            <a:ext cx="13983670" cy="1275212"/>
          </a:xfrm>
          <a:prstGeom prst="rect">
            <a:avLst/>
          </a:prstGeom>
          <a:noFill/>
          <a:ln>
            <a:noFill/>
          </a:ln>
        </p:spPr>
        <p:txBody>
          <a:bodyPr anchorCtr="0" anchor="t" bIns="0" lIns="0" spcFirstLastPara="1" rIns="0" wrap="square" tIns="0">
            <a:spAutoFit/>
          </a:bodyPr>
          <a:lstStyle/>
          <a:p>
            <a:pPr indent="0" lvl="0" marL="0" marR="0" rtl="0" algn="ctr">
              <a:lnSpc>
                <a:spcPct val="138005"/>
              </a:lnSpc>
              <a:spcBef>
                <a:spcPts val="0"/>
              </a:spcBef>
              <a:spcAft>
                <a:spcPts val="0"/>
              </a:spcAft>
              <a:buNone/>
            </a:pPr>
            <a:r>
              <a:rPr b="1" i="0" lang="en-US" sz="7549" u="none" cap="none" strike="noStrike">
                <a:solidFill>
                  <a:srgbClr val="F2F4F5"/>
                </a:solidFill>
                <a:latin typeface="Oswald"/>
                <a:ea typeface="Oswald"/>
                <a:cs typeface="Oswald"/>
                <a:sym typeface="Oswald"/>
              </a:rPr>
              <a:t>Instrumentos de recolección</a:t>
            </a:r>
            <a:endParaRPr/>
          </a:p>
        </p:txBody>
      </p:sp>
      <p:sp>
        <p:nvSpPr>
          <p:cNvPr id="214" name="Google Shape;214;p9"/>
          <p:cNvSpPr txBox="1"/>
          <p:nvPr/>
        </p:nvSpPr>
        <p:spPr>
          <a:xfrm>
            <a:off x="2146940" y="5018980"/>
            <a:ext cx="4138472" cy="3516343"/>
          </a:xfrm>
          <a:prstGeom prst="rect">
            <a:avLst/>
          </a:prstGeom>
          <a:noFill/>
          <a:ln>
            <a:noFill/>
          </a:ln>
        </p:spPr>
        <p:txBody>
          <a:bodyPr anchorCtr="0" anchor="t" bIns="0" lIns="0" spcFirstLastPara="1" rIns="0" wrap="square" tIns="0">
            <a:spAutoFit/>
          </a:bodyPr>
          <a:lstStyle/>
          <a:p>
            <a:pPr indent="0" lvl="0" marL="0" marR="0" rtl="0" algn="l">
              <a:lnSpc>
                <a:spcPct val="138021"/>
              </a:lnSpc>
              <a:spcBef>
                <a:spcPts val="0"/>
              </a:spcBef>
              <a:spcAft>
                <a:spcPts val="0"/>
              </a:spcAft>
              <a:buNone/>
            </a:pPr>
            <a:r>
              <a:rPr b="0" i="0" lang="en-US" sz="2012" u="none" cap="none" strike="noStrike">
                <a:solidFill>
                  <a:srgbClr val="FFFBFB"/>
                </a:solidFill>
                <a:latin typeface="DM Sans"/>
                <a:ea typeface="DM Sans"/>
                <a:cs typeface="DM Sans"/>
                <a:sym typeface="DM Sans"/>
              </a:rPr>
              <a:t>Durante la visita al área de producción de la empresa, se evidenció desorganización en la ejecución de las actividades laborales, lo cual motivó la propuesta de desarrollar un sistema de información que permita mejorar la gestión y organización del trabajo.</a:t>
            </a:r>
            <a:endParaRPr/>
          </a:p>
        </p:txBody>
      </p:sp>
      <p:sp>
        <p:nvSpPr>
          <p:cNvPr id="215" name="Google Shape;215;p9"/>
          <p:cNvSpPr txBox="1"/>
          <p:nvPr/>
        </p:nvSpPr>
        <p:spPr>
          <a:xfrm>
            <a:off x="6943757" y="5018980"/>
            <a:ext cx="4138500" cy="4584300"/>
          </a:xfrm>
          <a:prstGeom prst="rect">
            <a:avLst/>
          </a:prstGeom>
          <a:noFill/>
          <a:ln>
            <a:noFill/>
          </a:ln>
        </p:spPr>
        <p:txBody>
          <a:bodyPr anchorCtr="0" anchor="t" bIns="0" lIns="0" spcFirstLastPara="1" rIns="0" wrap="square" tIns="0">
            <a:spAutoFit/>
          </a:bodyPr>
          <a:lstStyle/>
          <a:p>
            <a:pPr indent="0" lvl="0" marL="0" marR="0" rtl="0" algn="l">
              <a:lnSpc>
                <a:spcPct val="138021"/>
              </a:lnSpc>
              <a:spcBef>
                <a:spcPts val="0"/>
              </a:spcBef>
              <a:spcAft>
                <a:spcPts val="0"/>
              </a:spcAft>
              <a:buNone/>
            </a:pPr>
            <a:r>
              <a:rPr b="0" i="0" lang="en-US" sz="2012" u="none" cap="none" strike="noStrike">
                <a:solidFill>
                  <a:srgbClr val="FFFBFB"/>
                </a:solidFill>
                <a:latin typeface="DM Sans"/>
                <a:ea typeface="DM Sans"/>
                <a:cs typeface="DM Sans"/>
                <a:sym typeface="DM Sans"/>
              </a:rPr>
              <a:t>El dueño de la empresa, manifestó que la gestión de los horarios y la asignación de tareas de los empleados resulta estresante. Asimismo, los empleados, se evidenciarón que no tienen claridad en sus funciones, lo que resalta la necesidad de mejorar la organización y comunicación del trabajo.</a:t>
            </a:r>
            <a:endParaRPr/>
          </a:p>
          <a:p>
            <a:pPr indent="0" lvl="0" marL="0" marR="0" rtl="0" algn="ctr">
              <a:lnSpc>
                <a:spcPct val="138021"/>
              </a:lnSpc>
              <a:spcBef>
                <a:spcPts val="0"/>
              </a:spcBef>
              <a:spcAft>
                <a:spcPts val="0"/>
              </a:spcAft>
              <a:buNone/>
            </a:pPr>
            <a:r>
              <a:t/>
            </a:r>
            <a:endParaRPr b="0" i="0" sz="2012" u="none" cap="none" strike="noStrike">
              <a:solidFill>
                <a:srgbClr val="FFFBFB"/>
              </a:solidFill>
              <a:latin typeface="DM Sans"/>
              <a:ea typeface="DM Sans"/>
              <a:cs typeface="DM Sans"/>
              <a:sym typeface="DM Sans"/>
            </a:endParaRPr>
          </a:p>
        </p:txBody>
      </p:sp>
      <p:sp>
        <p:nvSpPr>
          <p:cNvPr id="216" name="Google Shape;216;p9"/>
          <p:cNvSpPr txBox="1"/>
          <p:nvPr/>
        </p:nvSpPr>
        <p:spPr>
          <a:xfrm>
            <a:off x="11758404" y="5642372"/>
            <a:ext cx="4154400" cy="2456700"/>
          </a:xfrm>
          <a:prstGeom prst="rect">
            <a:avLst/>
          </a:prstGeom>
          <a:noFill/>
          <a:ln>
            <a:noFill/>
          </a:ln>
        </p:spPr>
        <p:txBody>
          <a:bodyPr anchorCtr="0" anchor="t" bIns="0" lIns="0" spcFirstLastPara="1" rIns="0" wrap="square" tIns="0">
            <a:spAutoFit/>
          </a:bodyPr>
          <a:lstStyle/>
          <a:p>
            <a:pPr indent="0" lvl="0" marL="0" marR="0" rtl="0" algn="ctr">
              <a:lnSpc>
                <a:spcPct val="138019"/>
              </a:lnSpc>
              <a:spcBef>
                <a:spcPts val="0"/>
              </a:spcBef>
              <a:spcAft>
                <a:spcPts val="0"/>
              </a:spcAft>
              <a:buNone/>
            </a:pPr>
            <a:r>
              <a:rPr b="0" i="0" lang="en-US" sz="2020" u="none" cap="none" strike="noStrike">
                <a:solidFill>
                  <a:srgbClr val="FFFBFB"/>
                </a:solidFill>
                <a:latin typeface="DM Sans"/>
                <a:ea typeface="DM Sans"/>
                <a:cs typeface="DM Sans"/>
                <a:sym typeface="DM Sans"/>
              </a:rPr>
              <a:t>Se evidenció y se determinó con mayor precisión que la falta de información era la causa principal del problema.</a:t>
            </a:r>
            <a:endParaRPr b="0" i="0" sz="2020" u="none" cap="none" strike="noStrike">
              <a:solidFill>
                <a:srgbClr val="FFFBFB"/>
              </a:solidFill>
              <a:latin typeface="DM Sans"/>
              <a:ea typeface="DM Sans"/>
              <a:cs typeface="DM Sans"/>
              <a:sym typeface="DM Sans"/>
            </a:endParaRPr>
          </a:p>
          <a:p>
            <a:pPr indent="0" lvl="0" marL="0" marR="0" rtl="0" algn="ctr">
              <a:lnSpc>
                <a:spcPct val="138019"/>
              </a:lnSpc>
              <a:spcBef>
                <a:spcPts val="0"/>
              </a:spcBef>
              <a:spcAft>
                <a:spcPts val="0"/>
              </a:spcAft>
              <a:buNone/>
            </a:pPr>
            <a:r>
              <a:t/>
            </a:r>
            <a:endParaRPr sz="2020">
              <a:solidFill>
                <a:srgbClr val="FFFBFB"/>
              </a:solidFill>
              <a:latin typeface="DM Sans"/>
              <a:ea typeface="DM Sans"/>
              <a:cs typeface="DM Sans"/>
              <a:sym typeface="DM Sans"/>
            </a:endParaRPr>
          </a:p>
          <a:p>
            <a:pPr indent="0" lvl="0" marL="0" marR="0" rtl="0" algn="ctr">
              <a:lnSpc>
                <a:spcPct val="138019"/>
              </a:lnSpc>
              <a:spcBef>
                <a:spcPts val="0"/>
              </a:spcBef>
              <a:spcAft>
                <a:spcPts val="0"/>
              </a:spcAft>
              <a:buNone/>
            </a:pPr>
            <a:r>
              <a:rPr lang="en-US" sz="2020" u="sng">
                <a:solidFill>
                  <a:schemeClr val="hlink"/>
                </a:solidFill>
                <a:latin typeface="DM Sans"/>
                <a:ea typeface="DM Sans"/>
                <a:cs typeface="DM Sans"/>
                <a:sym typeface="DM Sans"/>
                <a:hlinkClick r:id="rId6"/>
              </a:rPr>
              <a:t>Resultados encuesta.</a:t>
            </a:r>
            <a:endParaRPr sz="2020">
              <a:solidFill>
                <a:srgbClr val="FFFBFB"/>
              </a:solidFill>
              <a:latin typeface="DM Sans"/>
              <a:ea typeface="DM Sans"/>
              <a:cs typeface="DM Sans"/>
              <a:sym typeface="DM Sans"/>
            </a:endParaRPr>
          </a:p>
        </p:txBody>
      </p:sp>
      <p:sp>
        <p:nvSpPr>
          <p:cNvPr id="217" name="Google Shape;217;p9"/>
          <p:cNvSpPr txBox="1"/>
          <p:nvPr/>
        </p:nvSpPr>
        <p:spPr>
          <a:xfrm>
            <a:off x="2246044" y="8821073"/>
            <a:ext cx="3475253" cy="608342"/>
          </a:xfrm>
          <a:prstGeom prst="rect">
            <a:avLst/>
          </a:prstGeom>
          <a:noFill/>
          <a:ln>
            <a:noFill/>
          </a:ln>
        </p:spPr>
        <p:txBody>
          <a:bodyPr anchorCtr="0" anchor="t" bIns="0" lIns="0" spcFirstLastPara="1" rIns="0" wrap="square" tIns="0">
            <a:spAutoFit/>
          </a:bodyPr>
          <a:lstStyle/>
          <a:p>
            <a:pPr indent="0" lvl="0" marL="0" marR="0" rtl="0" algn="ctr">
              <a:lnSpc>
                <a:spcPct val="138012"/>
              </a:lnSpc>
              <a:spcBef>
                <a:spcPts val="0"/>
              </a:spcBef>
              <a:spcAft>
                <a:spcPts val="0"/>
              </a:spcAft>
              <a:buNone/>
            </a:pPr>
            <a:r>
              <a:rPr b="0" i="0" lang="en-US" sz="3562" u="none" cap="none" strike="noStrike">
                <a:solidFill>
                  <a:srgbClr val="FDFBFB"/>
                </a:solidFill>
                <a:latin typeface="Oswald"/>
                <a:ea typeface="Oswald"/>
                <a:cs typeface="Oswald"/>
                <a:sym typeface="Oswald"/>
              </a:rPr>
              <a:t>Observación</a:t>
            </a:r>
            <a:endParaRPr/>
          </a:p>
        </p:txBody>
      </p:sp>
      <p:sp>
        <p:nvSpPr>
          <p:cNvPr id="218" name="Google Shape;218;p9"/>
          <p:cNvSpPr txBox="1"/>
          <p:nvPr/>
        </p:nvSpPr>
        <p:spPr>
          <a:xfrm>
            <a:off x="7406382" y="8823075"/>
            <a:ext cx="3475200" cy="548400"/>
          </a:xfrm>
          <a:prstGeom prst="rect">
            <a:avLst/>
          </a:prstGeom>
          <a:noFill/>
          <a:ln>
            <a:noFill/>
          </a:ln>
        </p:spPr>
        <p:txBody>
          <a:bodyPr anchorCtr="0" anchor="t" bIns="0" lIns="0" spcFirstLastPara="1" rIns="0" wrap="square" tIns="0">
            <a:spAutoFit/>
          </a:bodyPr>
          <a:lstStyle/>
          <a:p>
            <a:pPr indent="0" lvl="0" marL="0" marR="0" rtl="0" algn="ctr">
              <a:lnSpc>
                <a:spcPct val="138012"/>
              </a:lnSpc>
              <a:spcBef>
                <a:spcPts val="0"/>
              </a:spcBef>
              <a:spcAft>
                <a:spcPts val="0"/>
              </a:spcAft>
              <a:buNone/>
            </a:pPr>
            <a:r>
              <a:rPr b="0" i="0" lang="en-US" sz="3562" u="none" cap="none" strike="noStrike">
                <a:solidFill>
                  <a:srgbClr val="FDFBFB"/>
                </a:solidFill>
                <a:latin typeface="Oswald"/>
                <a:ea typeface="Oswald"/>
                <a:cs typeface="Oswald"/>
                <a:sym typeface="Oswald"/>
              </a:rPr>
              <a:t>Entrevista</a:t>
            </a:r>
            <a:endParaRPr/>
          </a:p>
        </p:txBody>
      </p:sp>
      <p:sp>
        <p:nvSpPr>
          <p:cNvPr id="219" name="Google Shape;219;p9"/>
          <p:cNvSpPr txBox="1"/>
          <p:nvPr/>
        </p:nvSpPr>
        <p:spPr>
          <a:xfrm>
            <a:off x="12073529" y="8814981"/>
            <a:ext cx="3488736" cy="604036"/>
          </a:xfrm>
          <a:prstGeom prst="rect">
            <a:avLst/>
          </a:prstGeom>
          <a:noFill/>
          <a:ln>
            <a:noFill/>
          </a:ln>
        </p:spPr>
        <p:txBody>
          <a:bodyPr anchorCtr="0" anchor="t" bIns="0" lIns="0" spcFirstLastPara="1" rIns="0" wrap="square" tIns="0">
            <a:spAutoFit/>
          </a:bodyPr>
          <a:lstStyle/>
          <a:p>
            <a:pPr indent="0" lvl="0" marL="0" marR="0" rtl="0" algn="ctr">
              <a:lnSpc>
                <a:spcPct val="138041"/>
              </a:lnSpc>
              <a:spcBef>
                <a:spcPts val="0"/>
              </a:spcBef>
              <a:spcAft>
                <a:spcPts val="0"/>
              </a:spcAft>
              <a:buNone/>
            </a:pPr>
            <a:r>
              <a:rPr b="0" i="0" lang="en-US" sz="3575" u="none" cap="none" strike="noStrike">
                <a:solidFill>
                  <a:srgbClr val="FDFBFB"/>
                </a:solidFill>
                <a:latin typeface="Oswald"/>
                <a:ea typeface="Oswald"/>
                <a:cs typeface="Oswald"/>
                <a:sym typeface="Oswald"/>
              </a:rPr>
              <a:t>Encuesta</a:t>
            </a:r>
            <a:endParaRPr/>
          </a:p>
        </p:txBody>
      </p:sp>
      <p:sp>
        <p:nvSpPr>
          <p:cNvPr id="220" name="Google Shape;220;p9"/>
          <p:cNvSpPr/>
          <p:nvPr/>
        </p:nvSpPr>
        <p:spPr>
          <a:xfrm>
            <a:off x="12805520" y="3012532"/>
            <a:ext cx="1913924" cy="1913924"/>
          </a:xfrm>
          <a:custGeom>
            <a:rect b="b" l="l" r="r" t="t"/>
            <a:pathLst>
              <a:path extrusionOk="0" h="1913924" w="1913924">
                <a:moveTo>
                  <a:pt x="0" y="0"/>
                </a:moveTo>
                <a:lnTo>
                  <a:pt x="1913923" y="0"/>
                </a:lnTo>
                <a:lnTo>
                  <a:pt x="1913923" y="1913924"/>
                </a:lnTo>
                <a:lnTo>
                  <a:pt x="0" y="191392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24" name="Shape 224"/>
        <p:cNvGrpSpPr/>
        <p:nvPr/>
      </p:nvGrpSpPr>
      <p:grpSpPr>
        <a:xfrm>
          <a:off x="0" y="0"/>
          <a:ext cx="0" cy="0"/>
          <a:chOff x="0" y="0"/>
          <a:chExt cx="0" cy="0"/>
        </a:xfrm>
      </p:grpSpPr>
      <p:sp>
        <p:nvSpPr>
          <p:cNvPr id="225" name="Google Shape;225;p10"/>
          <p:cNvSpPr/>
          <p:nvPr/>
        </p:nvSpPr>
        <p:spPr>
          <a:xfrm>
            <a:off x="-8760017" y="-12044846"/>
            <a:ext cx="15841853" cy="16255633"/>
          </a:xfrm>
          <a:custGeom>
            <a:rect b="b" l="l" r="r" t="t"/>
            <a:pathLst>
              <a:path extrusionOk="0" h="16255633" w="15841853">
                <a:moveTo>
                  <a:pt x="0" y="0"/>
                </a:moveTo>
                <a:lnTo>
                  <a:pt x="15841853" y="0"/>
                </a:lnTo>
                <a:lnTo>
                  <a:pt x="15841853" y="16255633"/>
                </a:lnTo>
                <a:lnTo>
                  <a:pt x="0" y="16255633"/>
                </a:lnTo>
                <a:lnTo>
                  <a:pt x="0" y="0"/>
                </a:lnTo>
                <a:close/>
              </a:path>
            </a:pathLst>
          </a:custGeom>
          <a:blipFill rotWithShape="1">
            <a:blip r:embed="rId3">
              <a:alphaModFix/>
            </a:blip>
            <a:stretch>
              <a:fillRect b="0" l="0" r="0" t="0"/>
            </a:stretch>
          </a:blipFill>
          <a:ln>
            <a:noFill/>
          </a:ln>
        </p:spPr>
      </p:sp>
      <p:sp>
        <p:nvSpPr>
          <p:cNvPr id="226" name="Google Shape;226;p10"/>
          <p:cNvSpPr/>
          <p:nvPr/>
        </p:nvSpPr>
        <p:spPr>
          <a:xfrm>
            <a:off x="13857996" y="-3917030"/>
            <a:ext cx="15841853" cy="16255633"/>
          </a:xfrm>
          <a:custGeom>
            <a:rect b="b" l="l" r="r" t="t"/>
            <a:pathLst>
              <a:path extrusionOk="0" h="16255633" w="15841853">
                <a:moveTo>
                  <a:pt x="0" y="0"/>
                </a:moveTo>
                <a:lnTo>
                  <a:pt x="15841853" y="0"/>
                </a:lnTo>
                <a:lnTo>
                  <a:pt x="15841853" y="16255633"/>
                </a:lnTo>
                <a:lnTo>
                  <a:pt x="0" y="16255633"/>
                </a:lnTo>
                <a:lnTo>
                  <a:pt x="0" y="0"/>
                </a:lnTo>
                <a:close/>
              </a:path>
            </a:pathLst>
          </a:custGeom>
          <a:blipFill rotWithShape="1">
            <a:blip r:embed="rId3">
              <a:alphaModFix/>
            </a:blip>
            <a:stretch>
              <a:fillRect b="0" l="0" r="0" t="0"/>
            </a:stretch>
          </a:blipFill>
          <a:ln>
            <a:noFill/>
          </a:ln>
        </p:spPr>
      </p:sp>
      <p:sp>
        <p:nvSpPr>
          <p:cNvPr id="227" name="Google Shape;227;p10"/>
          <p:cNvSpPr txBox="1"/>
          <p:nvPr/>
        </p:nvSpPr>
        <p:spPr>
          <a:xfrm>
            <a:off x="782300" y="1993590"/>
            <a:ext cx="15596918" cy="6039460"/>
          </a:xfrm>
          <a:prstGeom prst="rect">
            <a:avLst/>
          </a:prstGeom>
          <a:noFill/>
          <a:ln>
            <a:noFill/>
          </a:ln>
        </p:spPr>
        <p:txBody>
          <a:bodyPr anchorCtr="0" anchor="t" bIns="0" lIns="0" spcFirstLastPara="1" rIns="0" wrap="square" tIns="0">
            <a:spAutoFit/>
          </a:bodyPr>
          <a:lstStyle/>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RF01 – Registro de usuarios</a:t>
            </a:r>
            <a:endParaRPr/>
          </a:p>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Permite crear cuentas en el sistema con roles como dueño o supervisor.</a:t>
            </a:r>
            <a:endParaRPr/>
          </a:p>
          <a:p>
            <a:pPr indent="0" lvl="0" marL="0" marR="0" rtl="0" algn="l">
              <a:lnSpc>
                <a:spcPct val="138040"/>
              </a:lnSpc>
              <a:spcBef>
                <a:spcPts val="0"/>
              </a:spcBef>
              <a:spcAft>
                <a:spcPts val="0"/>
              </a:spcAft>
              <a:buNone/>
            </a:pPr>
            <a:r>
              <a:t/>
            </a:r>
            <a:endParaRPr b="0" i="0" sz="2889" u="none" cap="none" strike="noStrike">
              <a:solidFill>
                <a:srgbClr val="F2F4F5"/>
              </a:solidFill>
              <a:latin typeface="DM Sans"/>
              <a:ea typeface="DM Sans"/>
              <a:cs typeface="DM Sans"/>
              <a:sym typeface="DM Sans"/>
            </a:endParaRPr>
          </a:p>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RF02 – Inicio de sesión</a:t>
            </a:r>
            <a:endParaRPr/>
          </a:p>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Permite a los usuarios autenticarse mediante credenciales válidas.</a:t>
            </a:r>
            <a:endParaRPr/>
          </a:p>
          <a:p>
            <a:pPr indent="0" lvl="0" marL="0" marR="0" rtl="0" algn="l">
              <a:lnSpc>
                <a:spcPct val="138040"/>
              </a:lnSpc>
              <a:spcBef>
                <a:spcPts val="0"/>
              </a:spcBef>
              <a:spcAft>
                <a:spcPts val="0"/>
              </a:spcAft>
              <a:buNone/>
            </a:pPr>
            <a:r>
              <a:t/>
            </a:r>
            <a:endParaRPr b="0" i="0" sz="2889" u="none" cap="none" strike="noStrike">
              <a:solidFill>
                <a:srgbClr val="F2F4F5"/>
              </a:solidFill>
              <a:latin typeface="DM Sans"/>
              <a:ea typeface="DM Sans"/>
              <a:cs typeface="DM Sans"/>
              <a:sym typeface="DM Sans"/>
            </a:endParaRPr>
          </a:p>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RF03 – Registro de empleados</a:t>
            </a:r>
            <a:endParaRPr/>
          </a:p>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Permite ingresar y almacenar la información laboral de nuevos empleados</a:t>
            </a:r>
            <a:endParaRPr/>
          </a:p>
          <a:p>
            <a:pPr indent="0" lvl="0" marL="0" marR="0" rtl="0" algn="l">
              <a:lnSpc>
                <a:spcPct val="138040"/>
              </a:lnSpc>
              <a:spcBef>
                <a:spcPts val="0"/>
              </a:spcBef>
              <a:spcAft>
                <a:spcPts val="0"/>
              </a:spcAft>
              <a:buNone/>
            </a:pPr>
            <a:r>
              <a:t/>
            </a:r>
            <a:endParaRPr b="0" i="0" sz="2889" u="none" cap="none" strike="noStrike">
              <a:solidFill>
                <a:srgbClr val="F2F4F5"/>
              </a:solidFill>
              <a:latin typeface="DM Sans"/>
              <a:ea typeface="DM Sans"/>
              <a:cs typeface="DM Sans"/>
              <a:sym typeface="DM Sans"/>
            </a:endParaRPr>
          </a:p>
          <a:p>
            <a:pPr indent="0" lvl="0" marL="0" marR="0" rtl="0" algn="l">
              <a:lnSpc>
                <a:spcPct val="138040"/>
              </a:lnSpc>
              <a:spcBef>
                <a:spcPts val="0"/>
              </a:spcBef>
              <a:spcAft>
                <a:spcPts val="0"/>
              </a:spcAft>
              <a:buNone/>
            </a:pPr>
            <a:r>
              <a:rPr b="0" i="0" lang="en-US" sz="2889" u="none" cap="none" strike="noStrike">
                <a:solidFill>
                  <a:srgbClr val="F2F4F5"/>
                </a:solidFill>
                <a:latin typeface="DM Sans"/>
                <a:ea typeface="DM Sans"/>
                <a:cs typeface="DM Sans"/>
                <a:sym typeface="DM Sans"/>
              </a:rPr>
              <a:t> </a:t>
            </a:r>
            <a:r>
              <a:rPr b="0" i="0" lang="en-US" sz="2889" u="sng" cap="none" strike="noStrike">
                <a:solidFill>
                  <a:srgbClr val="F2F4F5"/>
                </a:solidFill>
                <a:latin typeface="DM Sans"/>
                <a:ea typeface="DM Sans"/>
                <a:cs typeface="DM Sans"/>
                <a:sym typeface="DM Sans"/>
                <a:hlinkClick r:id="rId4">
                  <a:extLst>
                    <a:ext uri="{A12FA001-AC4F-418D-AE19-62706E023703}">
                      <ahyp:hlinkClr val="tx"/>
                    </a:ext>
                  </a:extLst>
                </a:hlinkClick>
              </a:rPr>
              <a:t>https://docs.google.com/document/d/11NJUUIoAARii-NG9RYCJMaiDCpItWZmuYCqGMtUYhi0/edit?usp=drive_link</a:t>
            </a:r>
            <a:endParaRPr/>
          </a:p>
          <a:p>
            <a:pPr indent="0" lvl="0" marL="0" marR="0" rtl="0" algn="l">
              <a:lnSpc>
                <a:spcPct val="138040"/>
              </a:lnSpc>
              <a:spcBef>
                <a:spcPts val="0"/>
              </a:spcBef>
              <a:spcAft>
                <a:spcPts val="0"/>
              </a:spcAft>
              <a:buNone/>
            </a:pPr>
            <a:r>
              <a:t/>
            </a:r>
            <a:endParaRPr b="0" i="0" sz="2889" u="sng" cap="none" strike="noStrike">
              <a:solidFill>
                <a:srgbClr val="F2F4F5"/>
              </a:solidFill>
              <a:latin typeface="DM Sans"/>
              <a:ea typeface="DM Sans"/>
              <a:cs typeface="DM Sans"/>
              <a:sym typeface="DM Sans"/>
              <a:hlinkClick r:id="rId5">
                <a:extLst>
                  <a:ext uri="{A12FA001-AC4F-418D-AE19-62706E023703}">
                    <ahyp:hlinkClr val="tx"/>
                  </a:ext>
                </a:extLst>
              </a:hlinkClick>
            </a:endParaRPr>
          </a:p>
        </p:txBody>
      </p:sp>
      <p:sp>
        <p:nvSpPr>
          <p:cNvPr id="228" name="Google Shape;228;p10"/>
          <p:cNvSpPr txBox="1"/>
          <p:nvPr/>
        </p:nvSpPr>
        <p:spPr>
          <a:xfrm>
            <a:off x="573436" y="287046"/>
            <a:ext cx="12514559" cy="1349959"/>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None/>
            </a:pPr>
            <a:r>
              <a:rPr b="1" i="0" lang="en-US" sz="8030" u="none" cap="none" strike="noStrike">
                <a:solidFill>
                  <a:srgbClr val="FFFFFF"/>
                </a:solidFill>
                <a:latin typeface="Oswald"/>
                <a:ea typeface="Oswald"/>
                <a:cs typeface="Oswald"/>
                <a:sym typeface="Oswald"/>
              </a:rPr>
              <a:t>Requisitos funcionales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32" name="Shape 232"/>
        <p:cNvGrpSpPr/>
        <p:nvPr/>
      </p:nvGrpSpPr>
      <p:grpSpPr>
        <a:xfrm>
          <a:off x="0" y="0"/>
          <a:ext cx="0" cy="0"/>
          <a:chOff x="0" y="0"/>
          <a:chExt cx="0" cy="0"/>
        </a:xfrm>
      </p:grpSpPr>
      <p:sp>
        <p:nvSpPr>
          <p:cNvPr id="233" name="Google Shape;233;p11"/>
          <p:cNvSpPr/>
          <p:nvPr/>
        </p:nvSpPr>
        <p:spPr>
          <a:xfrm rot="3407869">
            <a:off x="7589602" y="1118883"/>
            <a:ext cx="12471670" cy="5351480"/>
          </a:xfrm>
          <a:custGeom>
            <a:rect b="b" l="l" r="r" t="t"/>
            <a:pathLst>
              <a:path extrusionOk="0" h="5351480" w="12471670">
                <a:moveTo>
                  <a:pt x="0" y="0"/>
                </a:moveTo>
                <a:lnTo>
                  <a:pt x="12471670" y="0"/>
                </a:lnTo>
                <a:lnTo>
                  <a:pt x="12471670" y="5351480"/>
                </a:lnTo>
                <a:lnTo>
                  <a:pt x="0" y="5351480"/>
                </a:lnTo>
                <a:lnTo>
                  <a:pt x="0" y="0"/>
                </a:lnTo>
                <a:close/>
              </a:path>
            </a:pathLst>
          </a:custGeom>
          <a:blipFill rotWithShape="1">
            <a:blip r:embed="rId3">
              <a:alphaModFix/>
            </a:blip>
            <a:stretch>
              <a:fillRect b="0" l="0" r="0" t="0"/>
            </a:stretch>
          </a:blipFill>
          <a:ln>
            <a:noFill/>
          </a:ln>
        </p:spPr>
      </p:sp>
      <p:sp>
        <p:nvSpPr>
          <p:cNvPr id="234" name="Google Shape;234;p11"/>
          <p:cNvSpPr/>
          <p:nvPr/>
        </p:nvSpPr>
        <p:spPr>
          <a:xfrm rot="3407869">
            <a:off x="-4696947" y="10150458"/>
            <a:ext cx="12471670" cy="5351480"/>
          </a:xfrm>
          <a:custGeom>
            <a:rect b="b" l="l" r="r" t="t"/>
            <a:pathLst>
              <a:path extrusionOk="0" h="5351480" w="12471670">
                <a:moveTo>
                  <a:pt x="0" y="0"/>
                </a:moveTo>
                <a:lnTo>
                  <a:pt x="12471670" y="0"/>
                </a:lnTo>
                <a:lnTo>
                  <a:pt x="12471670" y="5351480"/>
                </a:lnTo>
                <a:lnTo>
                  <a:pt x="0" y="5351480"/>
                </a:lnTo>
                <a:lnTo>
                  <a:pt x="0" y="0"/>
                </a:lnTo>
                <a:close/>
              </a:path>
            </a:pathLst>
          </a:custGeom>
          <a:blipFill rotWithShape="1">
            <a:blip r:embed="rId3">
              <a:alphaModFix/>
            </a:blip>
            <a:stretch>
              <a:fillRect b="0" l="0" r="0" t="0"/>
            </a:stretch>
          </a:blipFill>
          <a:ln>
            <a:noFill/>
          </a:ln>
        </p:spPr>
      </p:sp>
      <p:sp>
        <p:nvSpPr>
          <p:cNvPr id="235" name="Google Shape;235;p11"/>
          <p:cNvSpPr txBox="1"/>
          <p:nvPr/>
        </p:nvSpPr>
        <p:spPr>
          <a:xfrm>
            <a:off x="1467796" y="1152525"/>
            <a:ext cx="14524686" cy="1106430"/>
          </a:xfrm>
          <a:prstGeom prst="rect">
            <a:avLst/>
          </a:prstGeom>
          <a:noFill/>
          <a:ln>
            <a:noFill/>
          </a:ln>
        </p:spPr>
        <p:txBody>
          <a:bodyPr anchorCtr="0" anchor="t" bIns="0" lIns="0" spcFirstLastPara="1" rIns="0" wrap="square" tIns="0">
            <a:spAutoFit/>
          </a:bodyPr>
          <a:lstStyle/>
          <a:p>
            <a:pPr indent="0" lvl="0" marL="0" marR="0" rtl="0" algn="l">
              <a:lnSpc>
                <a:spcPct val="105009"/>
              </a:lnSpc>
              <a:spcBef>
                <a:spcPts val="0"/>
              </a:spcBef>
              <a:spcAft>
                <a:spcPts val="0"/>
              </a:spcAft>
              <a:buNone/>
            </a:pPr>
            <a:r>
              <a:rPr b="1" i="0" lang="en-US" sz="8085" u="none" cap="none" strike="noStrike">
                <a:solidFill>
                  <a:srgbClr val="F2F4F5"/>
                </a:solidFill>
                <a:latin typeface="Oswald"/>
                <a:ea typeface="Oswald"/>
                <a:cs typeface="Oswald"/>
                <a:sym typeface="Oswald"/>
              </a:rPr>
              <a:t>Requisitos no funcionales</a:t>
            </a:r>
            <a:endParaRPr/>
          </a:p>
        </p:txBody>
      </p:sp>
      <p:sp>
        <p:nvSpPr>
          <p:cNvPr id="236" name="Google Shape;236;p11"/>
          <p:cNvSpPr txBox="1"/>
          <p:nvPr/>
        </p:nvSpPr>
        <p:spPr>
          <a:xfrm>
            <a:off x="1028700" y="2709207"/>
            <a:ext cx="15791504" cy="6200096"/>
          </a:xfrm>
          <a:prstGeom prst="rect">
            <a:avLst/>
          </a:prstGeom>
          <a:noFill/>
          <a:ln>
            <a:noFill/>
          </a:ln>
        </p:spPr>
        <p:txBody>
          <a:bodyPr anchorCtr="0" anchor="t" bIns="0" lIns="0" spcFirstLastPara="1" rIns="0" wrap="square" tIns="0">
            <a:spAutoFit/>
          </a:bodyPr>
          <a:lstStyle/>
          <a:p>
            <a:pPr indent="0" lvl="0" marL="0" marR="0" rtl="0" algn="l">
              <a:lnSpc>
                <a:spcPct val="138001"/>
              </a:lnSpc>
              <a:spcBef>
                <a:spcPts val="0"/>
              </a:spcBef>
              <a:spcAft>
                <a:spcPts val="0"/>
              </a:spcAft>
              <a:buNone/>
            </a:pPr>
            <a:r>
              <a:rPr b="0" i="0" lang="en-US" sz="3042" u="none" cap="none" strike="noStrike">
                <a:solidFill>
                  <a:srgbClr val="F2F4F5"/>
                </a:solidFill>
                <a:latin typeface="DM Sans"/>
                <a:ea typeface="DM Sans"/>
                <a:cs typeface="DM Sans"/>
                <a:sym typeface="DM Sans"/>
              </a:rPr>
              <a:t>RNF01 – Rendimiento del sistema</a:t>
            </a:r>
            <a:endParaRPr/>
          </a:p>
          <a:p>
            <a:pPr indent="0" lvl="0" marL="0" marR="0" rtl="0" algn="l">
              <a:lnSpc>
                <a:spcPct val="138001"/>
              </a:lnSpc>
              <a:spcBef>
                <a:spcPts val="0"/>
              </a:spcBef>
              <a:spcAft>
                <a:spcPts val="0"/>
              </a:spcAft>
              <a:buNone/>
            </a:pPr>
            <a:r>
              <a:rPr b="0" i="0" lang="en-US" sz="3042" u="none" cap="none" strike="noStrike">
                <a:solidFill>
                  <a:srgbClr val="F2F4F5"/>
                </a:solidFill>
                <a:latin typeface="DM Sans"/>
                <a:ea typeface="DM Sans"/>
                <a:cs typeface="DM Sans"/>
                <a:sym typeface="DM Sans"/>
              </a:rPr>
              <a:t>El sistema debe responder a las acciones en menos de 3 segundos.</a:t>
            </a:r>
            <a:endParaRPr/>
          </a:p>
          <a:p>
            <a:pPr indent="0" lvl="0" marL="0" marR="0" rtl="0" algn="l">
              <a:lnSpc>
                <a:spcPct val="138001"/>
              </a:lnSpc>
              <a:spcBef>
                <a:spcPts val="0"/>
              </a:spcBef>
              <a:spcAft>
                <a:spcPts val="0"/>
              </a:spcAft>
              <a:buNone/>
            </a:pPr>
            <a:r>
              <a:t/>
            </a:r>
            <a:endParaRPr b="0" i="0" sz="3042" u="none" cap="none" strike="noStrike">
              <a:solidFill>
                <a:srgbClr val="F2F4F5"/>
              </a:solidFill>
              <a:latin typeface="DM Sans"/>
              <a:ea typeface="DM Sans"/>
              <a:cs typeface="DM Sans"/>
              <a:sym typeface="DM Sans"/>
            </a:endParaRPr>
          </a:p>
          <a:p>
            <a:pPr indent="0" lvl="0" marL="0" marR="0" rtl="0" algn="l">
              <a:lnSpc>
                <a:spcPct val="138001"/>
              </a:lnSpc>
              <a:spcBef>
                <a:spcPts val="0"/>
              </a:spcBef>
              <a:spcAft>
                <a:spcPts val="0"/>
              </a:spcAft>
              <a:buNone/>
            </a:pPr>
            <a:r>
              <a:rPr b="0" i="0" lang="en-US" sz="3042" u="none" cap="none" strike="noStrike">
                <a:solidFill>
                  <a:srgbClr val="F2F4F5"/>
                </a:solidFill>
                <a:latin typeface="DM Sans"/>
                <a:ea typeface="DM Sans"/>
                <a:cs typeface="DM Sans"/>
                <a:sym typeface="DM Sans"/>
              </a:rPr>
              <a:t>RNF02 – Usabilidad</a:t>
            </a:r>
            <a:endParaRPr/>
          </a:p>
          <a:p>
            <a:pPr indent="0" lvl="0" marL="0" marR="0" rtl="0" algn="l">
              <a:lnSpc>
                <a:spcPct val="138001"/>
              </a:lnSpc>
              <a:spcBef>
                <a:spcPts val="0"/>
              </a:spcBef>
              <a:spcAft>
                <a:spcPts val="0"/>
              </a:spcAft>
              <a:buNone/>
            </a:pPr>
            <a:r>
              <a:rPr b="0" i="0" lang="en-US" sz="3042" u="none" cap="none" strike="noStrike">
                <a:solidFill>
                  <a:srgbClr val="F2F4F5"/>
                </a:solidFill>
                <a:latin typeface="DM Sans"/>
                <a:ea typeface="DM Sans"/>
                <a:cs typeface="DM Sans"/>
                <a:sym typeface="DM Sans"/>
              </a:rPr>
              <a:t>El sistema debe ser fácil de usar e intuitivo.</a:t>
            </a:r>
            <a:endParaRPr/>
          </a:p>
          <a:p>
            <a:pPr indent="0" lvl="0" marL="0" marR="0" rtl="0" algn="l">
              <a:lnSpc>
                <a:spcPct val="138001"/>
              </a:lnSpc>
              <a:spcBef>
                <a:spcPts val="0"/>
              </a:spcBef>
              <a:spcAft>
                <a:spcPts val="0"/>
              </a:spcAft>
              <a:buNone/>
            </a:pPr>
            <a:r>
              <a:t/>
            </a:r>
            <a:endParaRPr b="0" i="0" sz="3042" u="none" cap="none" strike="noStrike">
              <a:solidFill>
                <a:srgbClr val="F2F4F5"/>
              </a:solidFill>
              <a:latin typeface="DM Sans"/>
              <a:ea typeface="DM Sans"/>
              <a:cs typeface="DM Sans"/>
              <a:sym typeface="DM Sans"/>
            </a:endParaRPr>
          </a:p>
          <a:p>
            <a:pPr indent="0" lvl="0" marL="0" marR="0" rtl="0" algn="l">
              <a:lnSpc>
                <a:spcPct val="138001"/>
              </a:lnSpc>
              <a:spcBef>
                <a:spcPts val="0"/>
              </a:spcBef>
              <a:spcAft>
                <a:spcPts val="0"/>
              </a:spcAft>
              <a:buNone/>
            </a:pPr>
            <a:r>
              <a:rPr b="0" i="0" lang="en-US" sz="3042" u="none" cap="none" strike="noStrike">
                <a:solidFill>
                  <a:srgbClr val="F2F4F5"/>
                </a:solidFill>
                <a:latin typeface="DM Sans"/>
                <a:ea typeface="DM Sans"/>
                <a:cs typeface="DM Sans"/>
                <a:sym typeface="DM Sans"/>
              </a:rPr>
              <a:t>RNF03 – Seguridad de acceso</a:t>
            </a:r>
            <a:endParaRPr/>
          </a:p>
          <a:p>
            <a:pPr indent="0" lvl="0" marL="0" marR="0" rtl="0" algn="l">
              <a:lnSpc>
                <a:spcPct val="138001"/>
              </a:lnSpc>
              <a:spcBef>
                <a:spcPts val="0"/>
              </a:spcBef>
              <a:spcAft>
                <a:spcPts val="0"/>
              </a:spcAft>
              <a:buNone/>
            </a:pPr>
            <a:r>
              <a:rPr b="0" i="0" lang="en-US" sz="3042" u="none" cap="none" strike="noStrike">
                <a:solidFill>
                  <a:srgbClr val="F2F4F5"/>
                </a:solidFill>
                <a:latin typeface="DM Sans"/>
                <a:ea typeface="DM Sans"/>
                <a:cs typeface="DM Sans"/>
                <a:sym typeface="DM Sans"/>
              </a:rPr>
              <a:t>El sistema debe requerir autenticación y controlar permisos.</a:t>
            </a:r>
            <a:endParaRPr/>
          </a:p>
          <a:p>
            <a:pPr indent="0" lvl="0" marL="0" marR="0" rtl="0" algn="l">
              <a:lnSpc>
                <a:spcPct val="138001"/>
              </a:lnSpc>
              <a:spcBef>
                <a:spcPts val="0"/>
              </a:spcBef>
              <a:spcAft>
                <a:spcPts val="0"/>
              </a:spcAft>
              <a:buNone/>
            </a:pPr>
            <a:r>
              <a:t/>
            </a:r>
            <a:endParaRPr b="0" i="0" sz="3042" u="none" cap="none" strike="noStrike">
              <a:solidFill>
                <a:srgbClr val="F2F4F5"/>
              </a:solidFill>
              <a:latin typeface="DM Sans"/>
              <a:ea typeface="DM Sans"/>
              <a:cs typeface="DM Sans"/>
              <a:sym typeface="DM Sans"/>
            </a:endParaRPr>
          </a:p>
          <a:p>
            <a:pPr indent="0" lvl="0" marL="0" marR="0" rtl="0" algn="l">
              <a:lnSpc>
                <a:spcPct val="138001"/>
              </a:lnSpc>
              <a:spcBef>
                <a:spcPts val="0"/>
              </a:spcBef>
              <a:spcAft>
                <a:spcPts val="0"/>
              </a:spcAft>
              <a:buNone/>
            </a:pPr>
            <a:r>
              <a:t/>
            </a:r>
            <a:endParaRPr b="0" i="0" sz="3042" u="none" cap="none" strike="noStrike">
              <a:solidFill>
                <a:srgbClr val="F2F4F5"/>
              </a:solidFill>
              <a:latin typeface="DM Sans"/>
              <a:ea typeface="DM Sans"/>
              <a:cs typeface="DM Sans"/>
              <a:sym typeface="DM Sans"/>
            </a:endParaRPr>
          </a:p>
          <a:p>
            <a:pPr indent="0" lvl="0" marL="0" marR="0" rtl="0" algn="l">
              <a:lnSpc>
                <a:spcPct val="138001"/>
              </a:lnSpc>
              <a:spcBef>
                <a:spcPts val="0"/>
              </a:spcBef>
              <a:spcAft>
                <a:spcPts val="0"/>
              </a:spcAft>
              <a:buNone/>
            </a:pPr>
            <a:r>
              <a:rPr b="0" i="0" lang="en-US" sz="3042" u="sng" cap="none" strike="noStrike">
                <a:solidFill>
                  <a:srgbClr val="F2F4F5"/>
                </a:solidFill>
                <a:latin typeface="DM Sans"/>
                <a:ea typeface="DM Sans"/>
                <a:cs typeface="DM Sans"/>
                <a:sym typeface="DM Sans"/>
                <a:hlinkClick r:id="rId4">
                  <a:extLst>
                    <a:ext uri="{A12FA001-AC4F-418D-AE19-62706E023703}">
                      <ahyp:hlinkClr val="tx"/>
                    </a:ext>
                  </a:extLst>
                </a:hlinkClick>
              </a:rPr>
              <a:t>https://docs.google.com/document/d/11NJUUIoAARii-NG9RYCJMaiDCpItWZmuYCqGMtUYhi0/edit?usp=drive_link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40" name="Shape 240"/>
        <p:cNvGrpSpPr/>
        <p:nvPr/>
      </p:nvGrpSpPr>
      <p:grpSpPr>
        <a:xfrm>
          <a:off x="0" y="0"/>
          <a:ext cx="0" cy="0"/>
          <a:chOff x="0" y="0"/>
          <a:chExt cx="0" cy="0"/>
        </a:xfrm>
      </p:grpSpPr>
      <p:grpSp>
        <p:nvGrpSpPr>
          <p:cNvPr id="241" name="Google Shape;241;p12"/>
          <p:cNvGrpSpPr/>
          <p:nvPr/>
        </p:nvGrpSpPr>
        <p:grpSpPr>
          <a:xfrm>
            <a:off x="250394" y="2265751"/>
            <a:ext cx="8052891" cy="3050273"/>
            <a:chOff x="0" y="-19050"/>
            <a:chExt cx="1239916" cy="469655"/>
          </a:xfrm>
        </p:grpSpPr>
        <p:sp>
          <p:nvSpPr>
            <p:cNvPr id="242" name="Google Shape;242;p12"/>
            <p:cNvSpPr/>
            <p:nvPr/>
          </p:nvSpPr>
          <p:spPr>
            <a:xfrm>
              <a:off x="0" y="0"/>
              <a:ext cx="1239916" cy="450605"/>
            </a:xfrm>
            <a:custGeom>
              <a:rect b="b" l="l" r="r" t="t"/>
              <a:pathLst>
                <a:path extrusionOk="0" h="450605" w="1239916">
                  <a:moveTo>
                    <a:pt x="0" y="0"/>
                  </a:moveTo>
                  <a:lnTo>
                    <a:pt x="1239916" y="0"/>
                  </a:lnTo>
                  <a:lnTo>
                    <a:pt x="1239916" y="450605"/>
                  </a:lnTo>
                  <a:lnTo>
                    <a:pt x="0" y="450605"/>
                  </a:lnTo>
                  <a:close/>
                </a:path>
              </a:pathLst>
            </a:custGeom>
            <a:noFill/>
            <a:ln cap="sq" cmpd="sng" w="38100">
              <a:solidFill>
                <a:srgbClr val="FDFBFB"/>
              </a:solidFill>
              <a:prstDash val="solid"/>
              <a:miter lim="8000"/>
              <a:headEnd len="sm" w="sm" type="none"/>
              <a:tailEnd len="sm" w="sm" type="none"/>
            </a:ln>
          </p:spPr>
        </p:sp>
        <p:sp>
          <p:nvSpPr>
            <p:cNvPr id="243" name="Google Shape;243;p12"/>
            <p:cNvSpPr txBox="1"/>
            <p:nvPr/>
          </p:nvSpPr>
          <p:spPr>
            <a:xfrm>
              <a:off x="0" y="-19050"/>
              <a:ext cx="1239916" cy="469655"/>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12"/>
          <p:cNvSpPr/>
          <p:nvPr/>
        </p:nvSpPr>
        <p:spPr>
          <a:xfrm>
            <a:off x="-8760017" y="-12044846"/>
            <a:ext cx="15841853" cy="16255633"/>
          </a:xfrm>
          <a:custGeom>
            <a:rect b="b" l="l" r="r" t="t"/>
            <a:pathLst>
              <a:path extrusionOk="0" h="16255633" w="15841853">
                <a:moveTo>
                  <a:pt x="0" y="0"/>
                </a:moveTo>
                <a:lnTo>
                  <a:pt x="15841853" y="0"/>
                </a:lnTo>
                <a:lnTo>
                  <a:pt x="15841853" y="16255633"/>
                </a:lnTo>
                <a:lnTo>
                  <a:pt x="0" y="16255633"/>
                </a:lnTo>
                <a:lnTo>
                  <a:pt x="0" y="0"/>
                </a:lnTo>
                <a:close/>
              </a:path>
            </a:pathLst>
          </a:custGeom>
          <a:blipFill rotWithShape="1">
            <a:blip r:embed="rId3">
              <a:alphaModFix/>
            </a:blip>
            <a:stretch>
              <a:fillRect b="0" l="0" r="0" t="0"/>
            </a:stretch>
          </a:blipFill>
          <a:ln>
            <a:noFill/>
          </a:ln>
        </p:spPr>
      </p:sp>
      <p:sp>
        <p:nvSpPr>
          <p:cNvPr id="245" name="Google Shape;245;p12"/>
          <p:cNvSpPr txBox="1"/>
          <p:nvPr/>
        </p:nvSpPr>
        <p:spPr>
          <a:xfrm>
            <a:off x="3689811" y="285603"/>
            <a:ext cx="15287375" cy="1387064"/>
          </a:xfrm>
          <a:prstGeom prst="rect">
            <a:avLst/>
          </a:prstGeom>
          <a:noFill/>
          <a:ln>
            <a:noFill/>
          </a:ln>
        </p:spPr>
        <p:txBody>
          <a:bodyPr anchorCtr="0" anchor="t" bIns="0" lIns="0" spcFirstLastPara="1" rIns="0" wrap="square" tIns="0">
            <a:spAutoFit/>
          </a:bodyPr>
          <a:lstStyle/>
          <a:p>
            <a:pPr indent="0" lvl="0" marL="0" marR="0" rtl="0" algn="l">
              <a:lnSpc>
                <a:spcPct val="138004"/>
              </a:lnSpc>
              <a:spcBef>
                <a:spcPts val="0"/>
              </a:spcBef>
              <a:spcAft>
                <a:spcPts val="0"/>
              </a:spcAft>
              <a:buNone/>
            </a:pPr>
            <a:r>
              <a:rPr b="1" i="0" lang="en-US" sz="8178" u="none" cap="none" strike="noStrike">
                <a:solidFill>
                  <a:srgbClr val="FFFFFF"/>
                </a:solidFill>
                <a:latin typeface="Oswald"/>
                <a:ea typeface="Oswald"/>
                <a:cs typeface="Oswald"/>
                <a:sym typeface="Oswald"/>
              </a:rPr>
              <a:t>Modulos</a:t>
            </a:r>
            <a:endParaRPr/>
          </a:p>
        </p:txBody>
      </p:sp>
      <p:grpSp>
        <p:nvGrpSpPr>
          <p:cNvPr id="246" name="Google Shape;246;p12"/>
          <p:cNvGrpSpPr/>
          <p:nvPr/>
        </p:nvGrpSpPr>
        <p:grpSpPr>
          <a:xfrm>
            <a:off x="8828857" y="5961301"/>
            <a:ext cx="8775893" cy="2877749"/>
            <a:chOff x="0" y="-19050"/>
            <a:chExt cx="1351238" cy="443092"/>
          </a:xfrm>
        </p:grpSpPr>
        <p:sp>
          <p:nvSpPr>
            <p:cNvPr id="247" name="Google Shape;247;p12"/>
            <p:cNvSpPr/>
            <p:nvPr/>
          </p:nvSpPr>
          <p:spPr>
            <a:xfrm>
              <a:off x="0" y="0"/>
              <a:ext cx="1351238" cy="424042"/>
            </a:xfrm>
            <a:custGeom>
              <a:rect b="b" l="l" r="r" t="t"/>
              <a:pathLst>
                <a:path extrusionOk="0" h="424042" w="1351238">
                  <a:moveTo>
                    <a:pt x="0" y="0"/>
                  </a:moveTo>
                  <a:lnTo>
                    <a:pt x="1351238" y="0"/>
                  </a:lnTo>
                  <a:lnTo>
                    <a:pt x="1351238" y="424042"/>
                  </a:lnTo>
                  <a:lnTo>
                    <a:pt x="0" y="424042"/>
                  </a:lnTo>
                  <a:close/>
                </a:path>
              </a:pathLst>
            </a:custGeom>
            <a:noFill/>
            <a:ln cap="sq" cmpd="sng" w="38100">
              <a:solidFill>
                <a:srgbClr val="FDFBFB"/>
              </a:solidFill>
              <a:prstDash val="solid"/>
              <a:miter lim="8000"/>
              <a:headEnd len="sm" w="sm" type="none"/>
              <a:tailEnd len="sm" w="sm" type="none"/>
            </a:ln>
          </p:spPr>
        </p:sp>
        <p:sp>
          <p:nvSpPr>
            <p:cNvPr id="248" name="Google Shape;248;p12"/>
            <p:cNvSpPr txBox="1"/>
            <p:nvPr/>
          </p:nvSpPr>
          <p:spPr>
            <a:xfrm>
              <a:off x="0" y="-19050"/>
              <a:ext cx="1351238" cy="443092"/>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9" name="Google Shape;249;p12"/>
          <p:cNvSpPr/>
          <p:nvPr/>
        </p:nvSpPr>
        <p:spPr>
          <a:xfrm>
            <a:off x="14462807" y="-3120304"/>
            <a:ext cx="15841853" cy="16255633"/>
          </a:xfrm>
          <a:custGeom>
            <a:rect b="b" l="l" r="r" t="t"/>
            <a:pathLst>
              <a:path extrusionOk="0" h="16255633" w="15841853">
                <a:moveTo>
                  <a:pt x="0" y="0"/>
                </a:moveTo>
                <a:lnTo>
                  <a:pt x="15841853" y="0"/>
                </a:lnTo>
                <a:lnTo>
                  <a:pt x="15841853" y="16255633"/>
                </a:lnTo>
                <a:lnTo>
                  <a:pt x="0" y="16255633"/>
                </a:lnTo>
                <a:lnTo>
                  <a:pt x="0" y="0"/>
                </a:lnTo>
                <a:close/>
              </a:path>
            </a:pathLst>
          </a:custGeom>
          <a:blipFill rotWithShape="1">
            <a:blip r:embed="rId3">
              <a:alphaModFix/>
            </a:blip>
            <a:stretch>
              <a:fillRect b="0" l="0" r="0" t="0"/>
            </a:stretch>
          </a:blipFill>
          <a:ln>
            <a:noFill/>
          </a:ln>
        </p:spPr>
      </p:sp>
      <p:sp>
        <p:nvSpPr>
          <p:cNvPr id="250" name="Google Shape;250;p12"/>
          <p:cNvSpPr txBox="1"/>
          <p:nvPr/>
        </p:nvSpPr>
        <p:spPr>
          <a:xfrm>
            <a:off x="250394" y="3636235"/>
            <a:ext cx="8052891" cy="1539754"/>
          </a:xfrm>
          <a:prstGeom prst="rect">
            <a:avLst/>
          </a:prstGeom>
          <a:noFill/>
          <a:ln>
            <a:noFill/>
          </a:ln>
        </p:spPr>
        <p:txBody>
          <a:bodyPr anchorCtr="0" anchor="t" bIns="0" lIns="0" spcFirstLastPara="1" rIns="0" wrap="square" tIns="0">
            <a:spAutoFit/>
          </a:bodyPr>
          <a:lstStyle/>
          <a:p>
            <a:pPr indent="0" lvl="0" marL="0" marR="0" rtl="0" algn="ctr">
              <a:lnSpc>
                <a:spcPct val="137984"/>
              </a:lnSpc>
              <a:spcBef>
                <a:spcPts val="0"/>
              </a:spcBef>
              <a:spcAft>
                <a:spcPts val="0"/>
              </a:spcAft>
              <a:buNone/>
            </a:pPr>
            <a:r>
              <a:rPr b="0" i="0" lang="en-US" sz="2243" u="none" cap="none" strike="noStrike">
                <a:solidFill>
                  <a:srgbClr val="F2F4F5"/>
                </a:solidFill>
                <a:latin typeface="DM Sans"/>
                <a:ea typeface="DM Sans"/>
                <a:cs typeface="DM Sans"/>
                <a:sym typeface="DM Sans"/>
              </a:rPr>
              <a:t>Permite registrar las entradas y salidas de los empleados, llevando un control de la asistencia diaria y facilitando el seguimiento de puntualidad y ausencias.</a:t>
            </a:r>
            <a:endParaRPr/>
          </a:p>
        </p:txBody>
      </p:sp>
      <p:sp>
        <p:nvSpPr>
          <p:cNvPr id="251" name="Google Shape;251;p12"/>
          <p:cNvSpPr txBox="1"/>
          <p:nvPr/>
        </p:nvSpPr>
        <p:spPr>
          <a:xfrm>
            <a:off x="1426727" y="2401121"/>
            <a:ext cx="5888200" cy="1049311"/>
          </a:xfrm>
          <a:prstGeom prst="rect">
            <a:avLst/>
          </a:prstGeom>
          <a:noFill/>
          <a:ln>
            <a:noFill/>
          </a:ln>
        </p:spPr>
        <p:txBody>
          <a:bodyPr anchorCtr="0" anchor="t" bIns="0" lIns="0" spcFirstLastPara="1" rIns="0" wrap="square" tIns="0">
            <a:spAutoFit/>
          </a:bodyPr>
          <a:lstStyle/>
          <a:p>
            <a:pPr indent="0" lvl="0" marL="0" marR="0" rtl="0" algn="ctr">
              <a:lnSpc>
                <a:spcPct val="137975"/>
              </a:lnSpc>
              <a:spcBef>
                <a:spcPts val="0"/>
              </a:spcBef>
              <a:spcAft>
                <a:spcPts val="0"/>
              </a:spcAft>
              <a:buNone/>
            </a:pPr>
            <a:r>
              <a:rPr b="1" i="0" lang="en-US" sz="3102" u="none" cap="none" strike="noStrike">
                <a:solidFill>
                  <a:srgbClr val="F2F4F5"/>
                </a:solidFill>
                <a:latin typeface="DM Sans"/>
                <a:ea typeface="DM Sans"/>
                <a:cs typeface="DM Sans"/>
                <a:sym typeface="DM Sans"/>
              </a:rPr>
              <a:t>Módulo de control de asistencia</a:t>
            </a:r>
            <a:endParaRPr/>
          </a:p>
        </p:txBody>
      </p:sp>
      <p:grpSp>
        <p:nvGrpSpPr>
          <p:cNvPr id="252" name="Google Shape;252;p12"/>
          <p:cNvGrpSpPr/>
          <p:nvPr/>
        </p:nvGrpSpPr>
        <p:grpSpPr>
          <a:xfrm>
            <a:off x="8828857" y="2265751"/>
            <a:ext cx="8775893" cy="2877749"/>
            <a:chOff x="0" y="-19050"/>
            <a:chExt cx="1351238" cy="443092"/>
          </a:xfrm>
        </p:grpSpPr>
        <p:sp>
          <p:nvSpPr>
            <p:cNvPr id="253" name="Google Shape;253;p12"/>
            <p:cNvSpPr/>
            <p:nvPr/>
          </p:nvSpPr>
          <p:spPr>
            <a:xfrm>
              <a:off x="0" y="0"/>
              <a:ext cx="1351238" cy="424042"/>
            </a:xfrm>
            <a:custGeom>
              <a:rect b="b" l="l" r="r" t="t"/>
              <a:pathLst>
                <a:path extrusionOk="0" h="424042" w="1351238">
                  <a:moveTo>
                    <a:pt x="0" y="0"/>
                  </a:moveTo>
                  <a:lnTo>
                    <a:pt x="1351238" y="0"/>
                  </a:lnTo>
                  <a:lnTo>
                    <a:pt x="1351238" y="424042"/>
                  </a:lnTo>
                  <a:lnTo>
                    <a:pt x="0" y="424042"/>
                  </a:lnTo>
                  <a:close/>
                </a:path>
              </a:pathLst>
            </a:custGeom>
            <a:noFill/>
            <a:ln cap="sq" cmpd="sng" w="38100">
              <a:solidFill>
                <a:srgbClr val="FDFBFB"/>
              </a:solidFill>
              <a:prstDash val="solid"/>
              <a:miter lim="8000"/>
              <a:headEnd len="sm" w="sm" type="none"/>
              <a:tailEnd len="sm" w="sm" type="none"/>
            </a:ln>
          </p:spPr>
        </p:sp>
        <p:sp>
          <p:nvSpPr>
            <p:cNvPr id="254" name="Google Shape;254;p12"/>
            <p:cNvSpPr txBox="1"/>
            <p:nvPr/>
          </p:nvSpPr>
          <p:spPr>
            <a:xfrm>
              <a:off x="0" y="-19050"/>
              <a:ext cx="1351238" cy="443092"/>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12"/>
          <p:cNvSpPr txBox="1"/>
          <p:nvPr/>
        </p:nvSpPr>
        <p:spPr>
          <a:xfrm>
            <a:off x="8828857" y="3402807"/>
            <a:ext cx="8616768" cy="1913217"/>
          </a:xfrm>
          <a:prstGeom prst="rect">
            <a:avLst/>
          </a:prstGeom>
          <a:noFill/>
          <a:ln>
            <a:noFill/>
          </a:ln>
        </p:spPr>
        <p:txBody>
          <a:bodyPr anchorCtr="0" anchor="t" bIns="0" lIns="0" spcFirstLastPara="1" rIns="0" wrap="square" tIns="0">
            <a:spAutoFit/>
          </a:bodyPr>
          <a:lstStyle/>
          <a:p>
            <a:pPr indent="0" lvl="0" marL="0" marR="0" rtl="0" algn="ctr">
              <a:lnSpc>
                <a:spcPct val="169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37985"/>
              </a:lnSpc>
              <a:spcBef>
                <a:spcPts val="0"/>
              </a:spcBef>
              <a:spcAft>
                <a:spcPts val="0"/>
              </a:spcAft>
              <a:buNone/>
            </a:pPr>
            <a:r>
              <a:rPr b="0" i="0" lang="en-US" sz="2214" u="none" cap="none" strike="noStrike">
                <a:solidFill>
                  <a:srgbClr val="F2F4F5"/>
                </a:solidFill>
                <a:latin typeface="DM Sans"/>
                <a:ea typeface="DM Sans"/>
                <a:cs typeface="DM Sans"/>
                <a:sym typeface="DM Sans"/>
              </a:rPr>
              <a:t>Se encarga de asignar y organizar los horarios laborales de los empleados, permitiendo definir turnos y controlar el cumplimiento de la jornada de trabajo.</a:t>
            </a:r>
            <a:endParaRPr/>
          </a:p>
          <a:p>
            <a:pPr indent="0" lvl="0" marL="0" marR="0" rtl="0" algn="ctr">
              <a:lnSpc>
                <a:spcPct val="137985"/>
              </a:lnSpc>
              <a:spcBef>
                <a:spcPts val="0"/>
              </a:spcBef>
              <a:spcAft>
                <a:spcPts val="0"/>
              </a:spcAft>
              <a:buNone/>
            </a:pPr>
            <a:r>
              <a:t/>
            </a:r>
            <a:endParaRPr b="0" i="0" sz="2214" u="none" cap="none" strike="noStrike">
              <a:solidFill>
                <a:srgbClr val="F2F4F5"/>
              </a:solidFill>
              <a:latin typeface="DM Sans"/>
              <a:ea typeface="DM Sans"/>
              <a:cs typeface="DM Sans"/>
              <a:sym typeface="DM Sans"/>
            </a:endParaRPr>
          </a:p>
        </p:txBody>
      </p:sp>
      <p:sp>
        <p:nvSpPr>
          <p:cNvPr id="256" name="Google Shape;256;p12"/>
          <p:cNvSpPr txBox="1"/>
          <p:nvPr/>
        </p:nvSpPr>
        <p:spPr>
          <a:xfrm>
            <a:off x="10058750" y="2332325"/>
            <a:ext cx="5643086" cy="1072134"/>
          </a:xfrm>
          <a:prstGeom prst="rect">
            <a:avLst/>
          </a:prstGeom>
          <a:noFill/>
          <a:ln>
            <a:noFill/>
          </a:ln>
        </p:spPr>
        <p:txBody>
          <a:bodyPr anchorCtr="0" anchor="t" bIns="0" lIns="0" spcFirstLastPara="1" rIns="0" wrap="square" tIns="0">
            <a:spAutoFit/>
          </a:bodyPr>
          <a:lstStyle/>
          <a:p>
            <a:pPr indent="0" lvl="0" marL="0" marR="0" rtl="0" algn="ctr">
              <a:lnSpc>
                <a:spcPct val="138012"/>
              </a:lnSpc>
              <a:spcBef>
                <a:spcPts val="0"/>
              </a:spcBef>
              <a:spcAft>
                <a:spcPts val="0"/>
              </a:spcAft>
              <a:buNone/>
            </a:pPr>
            <a:r>
              <a:rPr b="1" i="0" lang="en-US" sz="3099" u="none" cap="none" strike="noStrike">
                <a:solidFill>
                  <a:srgbClr val="F2F4F5"/>
                </a:solidFill>
                <a:latin typeface="DM Sans"/>
                <a:ea typeface="DM Sans"/>
                <a:cs typeface="DM Sans"/>
                <a:sym typeface="DM Sans"/>
              </a:rPr>
              <a:t>Módulo de gestión de horarios</a:t>
            </a:r>
            <a:endParaRPr/>
          </a:p>
        </p:txBody>
      </p:sp>
      <p:grpSp>
        <p:nvGrpSpPr>
          <p:cNvPr id="257" name="Google Shape;257;p12"/>
          <p:cNvGrpSpPr/>
          <p:nvPr/>
        </p:nvGrpSpPr>
        <p:grpSpPr>
          <a:xfrm>
            <a:off x="250394" y="5702732"/>
            <a:ext cx="8052891" cy="3339597"/>
            <a:chOff x="0" y="-19050"/>
            <a:chExt cx="1239916" cy="514203"/>
          </a:xfrm>
        </p:grpSpPr>
        <p:sp>
          <p:nvSpPr>
            <p:cNvPr id="258" name="Google Shape;258;p12"/>
            <p:cNvSpPr/>
            <p:nvPr/>
          </p:nvSpPr>
          <p:spPr>
            <a:xfrm>
              <a:off x="0" y="0"/>
              <a:ext cx="1239916" cy="495153"/>
            </a:xfrm>
            <a:custGeom>
              <a:rect b="b" l="l" r="r" t="t"/>
              <a:pathLst>
                <a:path extrusionOk="0" h="495153" w="1239916">
                  <a:moveTo>
                    <a:pt x="0" y="0"/>
                  </a:moveTo>
                  <a:lnTo>
                    <a:pt x="1239916" y="0"/>
                  </a:lnTo>
                  <a:lnTo>
                    <a:pt x="1239916" y="495153"/>
                  </a:lnTo>
                  <a:lnTo>
                    <a:pt x="0" y="495153"/>
                  </a:lnTo>
                  <a:close/>
                </a:path>
              </a:pathLst>
            </a:custGeom>
            <a:noFill/>
            <a:ln cap="sq" cmpd="sng" w="38100">
              <a:solidFill>
                <a:srgbClr val="FDFBFB"/>
              </a:solidFill>
              <a:prstDash val="solid"/>
              <a:miter lim="8000"/>
              <a:headEnd len="sm" w="sm" type="none"/>
              <a:tailEnd len="sm" w="sm" type="none"/>
            </a:ln>
          </p:spPr>
        </p:sp>
        <p:sp>
          <p:nvSpPr>
            <p:cNvPr id="259" name="Google Shape;259;p12"/>
            <p:cNvSpPr txBox="1"/>
            <p:nvPr/>
          </p:nvSpPr>
          <p:spPr>
            <a:xfrm>
              <a:off x="0" y="-19050"/>
              <a:ext cx="1239916" cy="514203"/>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0" name="Google Shape;260;p12"/>
          <p:cNvSpPr txBox="1"/>
          <p:nvPr/>
        </p:nvSpPr>
        <p:spPr>
          <a:xfrm>
            <a:off x="357236" y="7251630"/>
            <a:ext cx="7839208" cy="1563203"/>
          </a:xfrm>
          <a:prstGeom prst="rect">
            <a:avLst/>
          </a:prstGeom>
          <a:noFill/>
          <a:ln>
            <a:noFill/>
          </a:ln>
        </p:spPr>
        <p:txBody>
          <a:bodyPr anchorCtr="0" anchor="t" bIns="0" lIns="0" spcFirstLastPara="1" rIns="0" wrap="square" tIns="0">
            <a:spAutoFit/>
          </a:bodyPr>
          <a:lstStyle/>
          <a:p>
            <a:pPr indent="0" lvl="0" marL="0" marR="0" rtl="0" algn="ctr">
              <a:lnSpc>
                <a:spcPct val="138015"/>
              </a:lnSpc>
              <a:spcBef>
                <a:spcPts val="0"/>
              </a:spcBef>
              <a:spcAft>
                <a:spcPts val="0"/>
              </a:spcAft>
              <a:buNone/>
            </a:pPr>
            <a:r>
              <a:rPr b="0" i="0" lang="en-US" sz="2278" u="none" cap="none" strike="noStrike">
                <a:solidFill>
                  <a:srgbClr val="F2F4F5"/>
                </a:solidFill>
                <a:latin typeface="DM Sans"/>
                <a:ea typeface="DM Sans"/>
                <a:cs typeface="DM Sans"/>
                <a:sym typeface="DM Sans"/>
              </a:rPr>
              <a:t>Permite asignar las actividades laborales a cada empleado, como corte, costura o acabado, facilitando la organización del trabajo dentro del taller.</a:t>
            </a:r>
            <a:endParaRPr/>
          </a:p>
        </p:txBody>
      </p:sp>
      <p:sp>
        <p:nvSpPr>
          <p:cNvPr id="261" name="Google Shape;261;p12"/>
          <p:cNvSpPr txBox="1"/>
          <p:nvPr/>
        </p:nvSpPr>
        <p:spPr>
          <a:xfrm>
            <a:off x="1906914" y="6027875"/>
            <a:ext cx="4526169" cy="1072134"/>
          </a:xfrm>
          <a:prstGeom prst="rect">
            <a:avLst/>
          </a:prstGeom>
          <a:noFill/>
          <a:ln>
            <a:noFill/>
          </a:ln>
        </p:spPr>
        <p:txBody>
          <a:bodyPr anchorCtr="0" anchor="t" bIns="0" lIns="0" spcFirstLastPara="1" rIns="0" wrap="square" tIns="0">
            <a:spAutoFit/>
          </a:bodyPr>
          <a:lstStyle/>
          <a:p>
            <a:pPr indent="0" lvl="0" marL="0" marR="0" rtl="0" algn="ctr">
              <a:lnSpc>
                <a:spcPct val="138012"/>
              </a:lnSpc>
              <a:spcBef>
                <a:spcPts val="0"/>
              </a:spcBef>
              <a:spcAft>
                <a:spcPts val="0"/>
              </a:spcAft>
              <a:buNone/>
            </a:pPr>
            <a:r>
              <a:rPr b="1" i="0" lang="en-US" sz="3099" u="none" cap="none" strike="noStrike">
                <a:solidFill>
                  <a:srgbClr val="F2F4F5"/>
                </a:solidFill>
                <a:latin typeface="DM Sans"/>
                <a:ea typeface="DM Sans"/>
                <a:cs typeface="DM Sans"/>
                <a:sym typeface="DM Sans"/>
              </a:rPr>
              <a:t>Módulo de gestión de tareas</a:t>
            </a:r>
            <a:endParaRPr/>
          </a:p>
        </p:txBody>
      </p:sp>
      <p:sp>
        <p:nvSpPr>
          <p:cNvPr id="262" name="Google Shape;262;p12"/>
          <p:cNvSpPr txBox="1"/>
          <p:nvPr/>
        </p:nvSpPr>
        <p:spPr>
          <a:xfrm>
            <a:off x="8906866" y="7287437"/>
            <a:ext cx="8460750" cy="1527396"/>
          </a:xfrm>
          <a:prstGeom prst="rect">
            <a:avLst/>
          </a:prstGeom>
          <a:noFill/>
          <a:ln>
            <a:noFill/>
          </a:ln>
        </p:spPr>
        <p:txBody>
          <a:bodyPr anchorCtr="0" anchor="t" bIns="0" lIns="0" spcFirstLastPara="1" rIns="0" wrap="square" tIns="0">
            <a:spAutoFit/>
          </a:bodyPr>
          <a:lstStyle/>
          <a:p>
            <a:pPr indent="0" lvl="0" marL="0" marR="0" rtl="0" algn="ctr">
              <a:lnSpc>
                <a:spcPct val="138009"/>
              </a:lnSpc>
              <a:spcBef>
                <a:spcPts val="0"/>
              </a:spcBef>
              <a:spcAft>
                <a:spcPts val="0"/>
              </a:spcAft>
              <a:buNone/>
            </a:pPr>
            <a:r>
              <a:rPr b="0" i="0" lang="en-US" sz="2210" u="none" cap="none" strike="noStrike">
                <a:solidFill>
                  <a:srgbClr val="F2F4F5"/>
                </a:solidFill>
                <a:latin typeface="DM Sans"/>
                <a:ea typeface="DM Sans"/>
                <a:cs typeface="DM Sans"/>
                <a:sym typeface="DM Sans"/>
              </a:rPr>
              <a:t>Permite registrar la cantidad de trabajo realizado por cada empleado, como el número de prendas elaboradas, facilitando el control del rendimiento y la productividad.</a:t>
            </a:r>
            <a:endParaRPr/>
          </a:p>
        </p:txBody>
      </p:sp>
      <p:sp>
        <p:nvSpPr>
          <p:cNvPr id="263" name="Google Shape;263;p12"/>
          <p:cNvSpPr txBox="1"/>
          <p:nvPr/>
        </p:nvSpPr>
        <p:spPr>
          <a:xfrm>
            <a:off x="10058750" y="6027875"/>
            <a:ext cx="6156981" cy="1072134"/>
          </a:xfrm>
          <a:prstGeom prst="rect">
            <a:avLst/>
          </a:prstGeom>
          <a:noFill/>
          <a:ln>
            <a:noFill/>
          </a:ln>
        </p:spPr>
        <p:txBody>
          <a:bodyPr anchorCtr="0" anchor="t" bIns="0" lIns="0" spcFirstLastPara="1" rIns="0" wrap="square" tIns="0">
            <a:spAutoFit/>
          </a:bodyPr>
          <a:lstStyle/>
          <a:p>
            <a:pPr indent="0" lvl="0" marL="0" marR="0" rtl="0" algn="ctr">
              <a:lnSpc>
                <a:spcPct val="138012"/>
              </a:lnSpc>
              <a:spcBef>
                <a:spcPts val="0"/>
              </a:spcBef>
              <a:spcAft>
                <a:spcPts val="0"/>
              </a:spcAft>
              <a:buNone/>
            </a:pPr>
            <a:r>
              <a:rPr b="1" i="0" lang="en-US" sz="3099" u="none" cap="none" strike="noStrike">
                <a:solidFill>
                  <a:srgbClr val="F2F4F5"/>
                </a:solidFill>
                <a:latin typeface="DM Sans"/>
                <a:ea typeface="DM Sans"/>
                <a:cs typeface="DM Sans"/>
                <a:sym typeface="DM Sans"/>
              </a:rPr>
              <a:t>Módulo de registro de producción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F0D"/>
        </a:solidFill>
      </p:bgPr>
    </p:bg>
    <p:spTree>
      <p:nvGrpSpPr>
        <p:cNvPr id="267" name="Shape 267"/>
        <p:cNvGrpSpPr/>
        <p:nvPr/>
      </p:nvGrpSpPr>
      <p:grpSpPr>
        <a:xfrm>
          <a:off x="0" y="0"/>
          <a:ext cx="0" cy="0"/>
          <a:chOff x="0" y="0"/>
          <a:chExt cx="0" cy="0"/>
        </a:xfrm>
      </p:grpSpPr>
      <p:sp>
        <p:nvSpPr>
          <p:cNvPr id="268" name="Google Shape;268;p13"/>
          <p:cNvSpPr/>
          <p:nvPr/>
        </p:nvSpPr>
        <p:spPr>
          <a:xfrm rot="887923">
            <a:off x="-6937517" y="-8230534"/>
            <a:ext cx="13977230" cy="14342307"/>
          </a:xfrm>
          <a:custGeom>
            <a:rect b="b" l="l" r="r" t="t"/>
            <a:pathLst>
              <a:path extrusionOk="0" h="14342307" w="13977230">
                <a:moveTo>
                  <a:pt x="0" y="0"/>
                </a:moveTo>
                <a:lnTo>
                  <a:pt x="13977230" y="0"/>
                </a:lnTo>
                <a:lnTo>
                  <a:pt x="13977230" y="14342307"/>
                </a:lnTo>
                <a:lnTo>
                  <a:pt x="0" y="14342307"/>
                </a:lnTo>
                <a:lnTo>
                  <a:pt x="0" y="0"/>
                </a:lnTo>
                <a:close/>
              </a:path>
            </a:pathLst>
          </a:custGeom>
          <a:blipFill rotWithShape="1">
            <a:blip r:embed="rId3">
              <a:alphaModFix/>
            </a:blip>
            <a:stretch>
              <a:fillRect b="0" l="0" r="0" t="0"/>
            </a:stretch>
          </a:blipFill>
          <a:ln>
            <a:noFill/>
          </a:ln>
        </p:spPr>
      </p:sp>
      <p:sp>
        <p:nvSpPr>
          <p:cNvPr id="269" name="Google Shape;269;p13"/>
          <p:cNvSpPr/>
          <p:nvPr/>
        </p:nvSpPr>
        <p:spPr>
          <a:xfrm rot="-10580377">
            <a:off x="12764389" y="4378355"/>
            <a:ext cx="12102934" cy="12419055"/>
          </a:xfrm>
          <a:custGeom>
            <a:rect b="b" l="l" r="r" t="t"/>
            <a:pathLst>
              <a:path extrusionOk="0" h="12419055" w="12102934">
                <a:moveTo>
                  <a:pt x="0" y="0"/>
                </a:moveTo>
                <a:lnTo>
                  <a:pt x="12102934" y="0"/>
                </a:lnTo>
                <a:lnTo>
                  <a:pt x="12102934" y="12419055"/>
                </a:lnTo>
                <a:lnTo>
                  <a:pt x="0" y="12419055"/>
                </a:lnTo>
                <a:lnTo>
                  <a:pt x="0" y="0"/>
                </a:lnTo>
                <a:close/>
              </a:path>
            </a:pathLst>
          </a:custGeom>
          <a:blipFill rotWithShape="1">
            <a:blip r:embed="rId3">
              <a:alphaModFix/>
            </a:blip>
            <a:stretch>
              <a:fillRect b="0" l="0" r="0" t="0"/>
            </a:stretch>
          </a:blipFill>
          <a:ln>
            <a:noFill/>
          </a:ln>
        </p:spPr>
      </p:sp>
      <p:sp>
        <p:nvSpPr>
          <p:cNvPr id="270" name="Google Shape;270;p13"/>
          <p:cNvSpPr/>
          <p:nvPr/>
        </p:nvSpPr>
        <p:spPr>
          <a:xfrm>
            <a:off x="2043944" y="1588378"/>
            <a:ext cx="13963762" cy="8220479"/>
          </a:xfrm>
          <a:custGeom>
            <a:rect b="b" l="l" r="r" t="t"/>
            <a:pathLst>
              <a:path extrusionOk="0" h="8220479" w="13963762">
                <a:moveTo>
                  <a:pt x="0" y="0"/>
                </a:moveTo>
                <a:lnTo>
                  <a:pt x="13963761" y="0"/>
                </a:lnTo>
                <a:lnTo>
                  <a:pt x="13963761" y="8220480"/>
                </a:lnTo>
                <a:lnTo>
                  <a:pt x="0" y="8220480"/>
                </a:lnTo>
                <a:lnTo>
                  <a:pt x="0" y="0"/>
                </a:lnTo>
                <a:close/>
              </a:path>
            </a:pathLst>
          </a:custGeom>
          <a:blipFill rotWithShape="1">
            <a:blip r:embed="rId4">
              <a:alphaModFix/>
            </a:blip>
            <a:stretch>
              <a:fillRect b="-9231" l="0" r="-16784" t="0"/>
            </a:stretch>
          </a:blipFill>
          <a:ln>
            <a:noFill/>
          </a:ln>
        </p:spPr>
      </p:sp>
      <p:sp>
        <p:nvSpPr>
          <p:cNvPr id="271" name="Google Shape;271;p13"/>
          <p:cNvSpPr txBox="1"/>
          <p:nvPr/>
        </p:nvSpPr>
        <p:spPr>
          <a:xfrm>
            <a:off x="3317982" y="345197"/>
            <a:ext cx="10643196" cy="1243181"/>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1" i="0" lang="en-US" sz="7371" u="none" cap="none" strike="noStrike">
                <a:solidFill>
                  <a:srgbClr val="F2F4F5"/>
                </a:solidFill>
                <a:latin typeface="Oswald"/>
                <a:ea typeface="Oswald"/>
                <a:cs typeface="Oswald"/>
                <a:sym typeface="Oswald"/>
              </a:rPr>
              <a:t>BPMN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F0D"/>
        </a:solidFill>
      </p:bgPr>
    </p:bg>
    <p:spTree>
      <p:nvGrpSpPr>
        <p:cNvPr id="275" name="Shape 275"/>
        <p:cNvGrpSpPr/>
        <p:nvPr/>
      </p:nvGrpSpPr>
      <p:grpSpPr>
        <a:xfrm>
          <a:off x="0" y="0"/>
          <a:ext cx="0" cy="0"/>
          <a:chOff x="0" y="0"/>
          <a:chExt cx="0" cy="0"/>
        </a:xfrm>
      </p:grpSpPr>
      <p:sp>
        <p:nvSpPr>
          <p:cNvPr id="276" name="Google Shape;276;p14"/>
          <p:cNvSpPr/>
          <p:nvPr/>
        </p:nvSpPr>
        <p:spPr>
          <a:xfrm rot="-10580377">
            <a:off x="9161036" y="-10318990"/>
            <a:ext cx="24036383" cy="24664199"/>
          </a:xfrm>
          <a:custGeom>
            <a:rect b="b" l="l" r="r" t="t"/>
            <a:pathLst>
              <a:path extrusionOk="0" h="24664199" w="24036383">
                <a:moveTo>
                  <a:pt x="0" y="0"/>
                </a:moveTo>
                <a:lnTo>
                  <a:pt x="24036383" y="0"/>
                </a:lnTo>
                <a:lnTo>
                  <a:pt x="24036383" y="24664198"/>
                </a:lnTo>
                <a:lnTo>
                  <a:pt x="0" y="24664198"/>
                </a:lnTo>
                <a:lnTo>
                  <a:pt x="0" y="0"/>
                </a:lnTo>
                <a:close/>
              </a:path>
            </a:pathLst>
          </a:custGeom>
          <a:blipFill rotWithShape="1">
            <a:blip r:embed="rId3">
              <a:alphaModFix/>
            </a:blip>
            <a:stretch>
              <a:fillRect b="0" l="0" r="0" t="0"/>
            </a:stretch>
          </a:blipFill>
          <a:ln>
            <a:noFill/>
          </a:ln>
        </p:spPr>
      </p:sp>
      <p:sp>
        <p:nvSpPr>
          <p:cNvPr id="277" name="Google Shape;277;p14"/>
          <p:cNvSpPr txBox="1"/>
          <p:nvPr/>
        </p:nvSpPr>
        <p:spPr>
          <a:xfrm>
            <a:off x="1561733" y="2105045"/>
            <a:ext cx="8097687" cy="3241963"/>
          </a:xfrm>
          <a:prstGeom prst="rect">
            <a:avLst/>
          </a:prstGeom>
          <a:noFill/>
          <a:ln>
            <a:noFill/>
          </a:ln>
        </p:spPr>
        <p:txBody>
          <a:bodyPr anchorCtr="0" anchor="t" bIns="0" lIns="0" spcFirstLastPara="1" rIns="0" wrap="square" tIns="0">
            <a:spAutoFit/>
          </a:bodyPr>
          <a:lstStyle/>
          <a:p>
            <a:pPr indent="0" lvl="0" marL="0" marR="0" rtl="0" algn="l">
              <a:lnSpc>
                <a:spcPct val="138002"/>
              </a:lnSpc>
              <a:spcBef>
                <a:spcPts val="0"/>
              </a:spcBef>
              <a:spcAft>
                <a:spcPts val="0"/>
              </a:spcAft>
              <a:buNone/>
            </a:pPr>
            <a:r>
              <a:rPr b="1" i="0" lang="en-US" sz="9431" u="none" cap="none" strike="noStrike">
                <a:solidFill>
                  <a:srgbClr val="F2F4F5"/>
                </a:solidFill>
                <a:latin typeface="Oswald"/>
                <a:ea typeface="Oswald"/>
                <a:cs typeface="Oswald"/>
                <a:sym typeface="Oswald"/>
              </a:rPr>
              <a:t>MUCHAS 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